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3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drawings/drawing4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6.xml" ContentType="application/vnd.openxmlformats-officedocument.themeOverride+xml"/>
  <Override PartName="/ppt/notesSlides/notesSlide14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7.xml" ContentType="application/vnd.openxmlformats-officedocument.themeOverride+xml"/>
  <Override PartName="/ppt/notesSlides/notesSlide15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8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9.xml" ContentType="application/vnd.openxmlformats-officedocument.themeOverride+xml"/>
  <Override PartName="/ppt/notesSlides/notesSlide16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20.xml" ContentType="application/vnd.openxmlformats-officedocument.themeOverr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2.xml" ContentType="application/vnd.openxmlformats-officedocument.drawingml.chart+xml"/>
  <Override PartName="/ppt/theme/themeOverride22.xml" ContentType="application/vnd.openxmlformats-officedocument.themeOverride+xml"/>
  <Override PartName="/ppt/charts/chart23.xml" ContentType="application/vnd.openxmlformats-officedocument.drawingml.chart+xml"/>
  <Override PartName="/ppt/theme/themeOverride23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5"/>
  </p:notesMasterIdLst>
  <p:handoutMasterIdLst>
    <p:handoutMasterId r:id="rId26"/>
  </p:handoutMasterIdLst>
  <p:sldIdLst>
    <p:sldId id="256" r:id="rId5"/>
    <p:sldId id="289" r:id="rId6"/>
    <p:sldId id="295" r:id="rId7"/>
    <p:sldId id="297" r:id="rId8"/>
    <p:sldId id="302" r:id="rId9"/>
    <p:sldId id="298" r:id="rId10"/>
    <p:sldId id="299" r:id="rId11"/>
    <p:sldId id="261" r:id="rId12"/>
    <p:sldId id="301" r:id="rId13"/>
    <p:sldId id="300" r:id="rId14"/>
    <p:sldId id="303" r:id="rId15"/>
    <p:sldId id="306" r:id="rId16"/>
    <p:sldId id="264" r:id="rId17"/>
    <p:sldId id="308" r:id="rId18"/>
    <p:sldId id="310" r:id="rId19"/>
    <p:sldId id="309" r:id="rId20"/>
    <p:sldId id="307" r:id="rId21"/>
    <p:sldId id="304" r:id="rId22"/>
    <p:sldId id="311" r:id="rId23"/>
    <p:sldId id="292" r:id="rId2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BAC3681-FF26-4E3F-BB9F-14C85C376C91}">
          <p14:sldIdLst>
            <p14:sldId id="256"/>
            <p14:sldId id="289"/>
          </p14:sldIdLst>
        </p14:section>
        <p14:section name="ПЕРВОЕ ТЗ" id="{B71603B0-92D8-4C57-AB94-BFE64984A41E}">
          <p14:sldIdLst>
            <p14:sldId id="295"/>
            <p14:sldId id="297"/>
            <p14:sldId id="302"/>
            <p14:sldId id="298"/>
            <p14:sldId id="299"/>
            <p14:sldId id="261"/>
            <p14:sldId id="301"/>
            <p14:sldId id="300"/>
            <p14:sldId id="303"/>
          </p14:sldIdLst>
        </p14:section>
        <p14:section name="ВТОРОЕ ТЗ" id="{ABBBAF8C-EC97-4FB2-9C7B-F988B03CC006}">
          <p14:sldIdLst>
            <p14:sldId id="306"/>
            <p14:sldId id="264"/>
            <p14:sldId id="308"/>
            <p14:sldId id="310"/>
            <p14:sldId id="309"/>
            <p14:sldId id="307"/>
          </p14:sldIdLst>
        </p14:section>
        <p14:section name="ТРЕТЬЕ ТЗ" id="{8B448B6D-E820-4CF0-AC68-0B534FF9DE25}">
          <p14:sldIdLst>
            <p14:sldId id="304"/>
            <p14:sldId id="311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  <p:cmAuthor id="5" name="Slava Gebel" initials="SG" lastIdx="2" clrIdx="4">
    <p:extLst>
      <p:ext uri="{19B8F6BF-5375-455C-9EA6-DF929625EA0E}">
        <p15:presenceInfo xmlns:p15="http://schemas.microsoft.com/office/powerpoint/2012/main" userId="59e4ce90529c3c5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7" autoAdjust="0"/>
    <p:restoredTop sz="81503" autoAdjust="0"/>
  </p:normalViewPr>
  <p:slideViewPr>
    <p:cSldViewPr snapToGrid="0">
      <p:cViewPr varScale="1">
        <p:scale>
          <a:sx n="63" d="100"/>
          <a:sy n="63" d="100"/>
        </p:scale>
        <p:origin x="1728" y="6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32" y="3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../embeddings/oleObject1.bin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../embeddings/oleObject2.bin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5" Type="http://schemas.openxmlformats.org/officeDocument/2006/relationships/chartUserShapes" Target="../drawings/drawing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2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[01_transaction_list.xlsx]задача1!Сводная таблица1</c:name>
    <c:fmtId val="2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задача1!$B$3:$B$4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E4-40BF-9339-AAA35CD27C30}"/>
            </c:ext>
          </c:extLst>
        </c:ser>
        <c:ser>
          <c:idx val="1"/>
          <c:order val="1"/>
          <c:tx>
            <c:strRef>
              <c:f>задача1!$C$3:$C$4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E4-40BF-9339-AAA35CD27C30}"/>
            </c:ext>
          </c:extLst>
        </c:ser>
        <c:ser>
          <c:idx val="2"/>
          <c:order val="2"/>
          <c:tx>
            <c:strRef>
              <c:f>задача1!$D$3:$D$4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E4-40BF-9339-AAA35CD27C30}"/>
            </c:ext>
          </c:extLst>
        </c:ser>
        <c:ser>
          <c:idx val="3"/>
          <c:order val="3"/>
          <c:tx>
            <c:strRef>
              <c:f>задача1!$E$3:$E$4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E4-40BF-9339-AAA35CD27C30}"/>
            </c:ext>
          </c:extLst>
        </c:ser>
        <c:ser>
          <c:idx val="4"/>
          <c:order val="4"/>
          <c:tx>
            <c:strRef>
              <c:f>задача1!$F$3:$F$4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E4-40BF-9339-AAA35CD27C30}"/>
            </c:ext>
          </c:extLst>
        </c:ser>
        <c:ser>
          <c:idx val="5"/>
          <c:order val="5"/>
          <c:tx>
            <c:strRef>
              <c:f>задача1!$G$3:$G$4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6E4-40BF-9339-AAA35CD27C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overlap val="100"/>
        <c:axId val="750444344"/>
        <c:axId val="750437128"/>
      </c:barChart>
      <c:catAx>
        <c:axId val="750444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437128"/>
        <c:crosses val="autoZero"/>
        <c:auto val="1"/>
        <c:lblAlgn val="ctr"/>
        <c:lblOffset val="100"/>
        <c:noMultiLvlLbl val="0"/>
      </c:catAx>
      <c:valAx>
        <c:axId val="7504371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444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userShapes r:id="rId5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[01_transaction_list.xlsx]задача1!Сводная таблица1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задача1!$B$3:$B$4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E-4E5A-8EC2-33B31F540B97}"/>
            </c:ext>
          </c:extLst>
        </c:ser>
        <c:ser>
          <c:idx val="1"/>
          <c:order val="1"/>
          <c:tx>
            <c:strRef>
              <c:f>задача1!$C$3:$C$4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3E-4E5A-8EC2-33B31F540B97}"/>
            </c:ext>
          </c:extLst>
        </c:ser>
        <c:ser>
          <c:idx val="2"/>
          <c:order val="2"/>
          <c:tx>
            <c:strRef>
              <c:f>задача1!$D$3:$D$4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3E-4E5A-8EC2-33B31F540B97}"/>
            </c:ext>
          </c:extLst>
        </c:ser>
        <c:ser>
          <c:idx val="3"/>
          <c:order val="3"/>
          <c:tx>
            <c:strRef>
              <c:f>задача1!$E$3:$E$4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3E-4E5A-8EC2-33B31F540B97}"/>
            </c:ext>
          </c:extLst>
        </c:ser>
        <c:ser>
          <c:idx val="4"/>
          <c:order val="4"/>
          <c:tx>
            <c:strRef>
              <c:f>задача1!$F$3:$F$4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3E-4E5A-8EC2-33B31F540B97}"/>
            </c:ext>
          </c:extLst>
        </c:ser>
        <c:ser>
          <c:idx val="5"/>
          <c:order val="5"/>
          <c:tx>
            <c:strRef>
              <c:f>задача1!$G$3:$G$4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задача1!$G$5:$G$9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03E-4E5A-8EC2-33B31F540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0669656"/>
        <c:axId val="750670968"/>
      </c:barChart>
      <c:catAx>
        <c:axId val="750669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670968"/>
        <c:crosses val="autoZero"/>
        <c:auto val="1"/>
        <c:lblAlgn val="ctr"/>
        <c:lblOffset val="100"/>
        <c:noMultiLvlLbl val="0"/>
      </c:catAx>
      <c:valAx>
        <c:axId val="75067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669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[01_transaction_list.xlsx]задача2!Сводная таблица4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805614719005008"/>
          <c:y val="0.16278511784298777"/>
          <c:w val="0.7620559154769273"/>
          <c:h val="0.68591187569531709"/>
        </c:manualLayout>
      </c:layout>
      <c:lineChart>
        <c:grouping val="standard"/>
        <c:varyColors val="0"/>
        <c:ser>
          <c:idx val="0"/>
          <c:order val="0"/>
          <c:tx>
            <c:strRef>
              <c:f>задача2!$B$3:$B$4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B7-4D5E-9A6B-4F532FE40BC0}"/>
            </c:ext>
          </c:extLst>
        </c:ser>
        <c:ser>
          <c:idx val="1"/>
          <c:order val="1"/>
          <c:tx>
            <c:strRef>
              <c:f>задача2!$C$3:$C$4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B7-4D5E-9A6B-4F532FE40BC0}"/>
            </c:ext>
          </c:extLst>
        </c:ser>
        <c:ser>
          <c:idx val="2"/>
          <c:order val="2"/>
          <c:tx>
            <c:strRef>
              <c:f>задача2!$D$3:$D$4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B7-4D5E-9A6B-4F532FE40B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0441392"/>
        <c:axId val="750442048"/>
      </c:lineChart>
      <c:catAx>
        <c:axId val="750441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442048"/>
        <c:crosses val="autoZero"/>
        <c:auto val="1"/>
        <c:lblAlgn val="ctr"/>
        <c:lblOffset val="100"/>
        <c:noMultiLvlLbl val="0"/>
      </c:catAx>
      <c:valAx>
        <c:axId val="7504420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44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ru-RU"/>
    </a:p>
  </c:txPr>
  <c:userShapes r:id="rId5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53836652771345"/>
          <c:y val="0.1666741820917963"/>
          <c:w val="0.83612146204684545"/>
          <c:h val="0.67745946873617402"/>
        </c:manualLayout>
      </c:layout>
      <c:lineChart>
        <c:grouping val="standard"/>
        <c:varyColors val="0"/>
        <c:ser>
          <c:idx val="0"/>
          <c:order val="0"/>
          <c:tx>
            <c:strRef>
              <c:f>задача2!$I$4</c:f>
              <c:strCache>
                <c:ptCount val="1"/>
                <c:pt idx="0">
                  <c:v>1 серв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задача2!$H$5:$H$7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задача2!$I$5:$I$7</c:f>
              <c:numCache>
                <c:formatCode>0%</c:formatCode>
                <c:ptCount val="3"/>
                <c:pt idx="0">
                  <c:v>1.0030395136778116</c:v>
                </c:pt>
                <c:pt idx="1">
                  <c:v>0.65959595959595962</c:v>
                </c:pt>
                <c:pt idx="2">
                  <c:v>1.0176110260336906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0C-413E-9A98-883132B8661C}"/>
            </c:ext>
          </c:extLst>
        </c:ser>
        <c:ser>
          <c:idx val="1"/>
          <c:order val="1"/>
          <c:tx>
            <c:strRef>
              <c:f>задача2!$J$4</c:f>
              <c:strCache>
                <c:ptCount val="1"/>
                <c:pt idx="0">
                  <c:v>2 серв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задача2!$H$5:$H$7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задача2!$J$5:$J$7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0C-413E-9A98-883132B8661C}"/>
            </c:ext>
          </c:extLst>
        </c:ser>
        <c:ser>
          <c:idx val="2"/>
          <c:order val="2"/>
          <c:tx>
            <c:strRef>
              <c:f>задача2!$K$4</c:f>
              <c:strCache>
                <c:ptCount val="1"/>
                <c:pt idx="0">
                  <c:v>3 серв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задача2!$H$5:$H$7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задача2!$K$5:$K$7</c:f>
              <c:numCache>
                <c:formatCode>0%</c:formatCode>
                <c:ptCount val="3"/>
                <c:pt idx="0">
                  <c:v>1.0525568181818181</c:v>
                </c:pt>
                <c:pt idx="1">
                  <c:v>2.1666666666666665</c:v>
                </c:pt>
                <c:pt idx="2">
                  <c:v>1.4008097165991902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D0C-413E-9A98-883132B86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0666376"/>
        <c:axId val="750667032"/>
      </c:lineChart>
      <c:catAx>
        <c:axId val="750666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667032"/>
        <c:crosses val="autoZero"/>
        <c:auto val="1"/>
        <c:lblAlgn val="ctr"/>
        <c:lblOffset val="100"/>
        <c:noMultiLvlLbl val="0"/>
      </c:catAx>
      <c:valAx>
        <c:axId val="75066703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0666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[01_transaction_list.xlsx]задача2!Сводная таблица5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задача2!$B$35:$B$36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задача2!$A$37:$A$41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задача2!$B$37:$B$41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F6-43A2-B068-4ECBCC639527}"/>
            </c:ext>
          </c:extLst>
        </c:ser>
        <c:ser>
          <c:idx val="1"/>
          <c:order val="1"/>
          <c:tx>
            <c:strRef>
              <c:f>задача2!$C$35:$C$36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задача2!$A$37:$A$41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задача2!$C$37:$C$41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F6-43A2-B068-4ECBCC639527}"/>
            </c:ext>
          </c:extLst>
        </c:ser>
        <c:ser>
          <c:idx val="2"/>
          <c:order val="2"/>
          <c:tx>
            <c:strRef>
              <c:f>задача2!$D$35:$D$36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задача2!$A$37:$A$41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задача2!$D$37:$D$41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F6-43A2-B068-4ECBCC639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4764904"/>
        <c:axId val="303026776"/>
      </c:lineChart>
      <c:catAx>
        <c:axId val="274764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03026776"/>
        <c:crosses val="autoZero"/>
        <c:auto val="1"/>
        <c:lblAlgn val="ctr"/>
        <c:lblOffset val="100"/>
        <c:noMultiLvlLbl val="0"/>
      </c:catAx>
      <c:valAx>
        <c:axId val="303026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4764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задача2!$J$35</c:f>
              <c:strCache>
                <c:ptCount val="1"/>
                <c:pt idx="0">
                  <c:v>1 серв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задача2!$I$36:$I$38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задача2!$J$36:$J$38</c:f>
              <c:numCache>
                <c:formatCode>0%</c:formatCode>
                <c:ptCount val="3"/>
                <c:pt idx="0">
                  <c:v>1.0030395136778116</c:v>
                </c:pt>
                <c:pt idx="1">
                  <c:v>1.3606060606060606</c:v>
                </c:pt>
                <c:pt idx="2">
                  <c:v>0.98552338530066819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B7-44D2-AF36-409425005CC0}"/>
            </c:ext>
          </c:extLst>
        </c:ser>
        <c:ser>
          <c:idx val="1"/>
          <c:order val="1"/>
          <c:tx>
            <c:strRef>
              <c:f>задача2!$K$35</c:f>
              <c:strCache>
                <c:ptCount val="1"/>
                <c:pt idx="0">
                  <c:v>2 серв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задача2!$I$36:$I$38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задача2!$K$36:$K$38</c:f>
              <c:numCache>
                <c:formatCode>0%</c:formatCode>
                <c:ptCount val="3"/>
                <c:pt idx="0">
                  <c:v>1.0040295500335796</c:v>
                </c:pt>
                <c:pt idx="1">
                  <c:v>0.95250836120401339</c:v>
                </c:pt>
                <c:pt idx="2">
                  <c:v>0.9943820224719101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B7-44D2-AF36-409425005CC0}"/>
            </c:ext>
          </c:extLst>
        </c:ser>
        <c:ser>
          <c:idx val="2"/>
          <c:order val="2"/>
          <c:tx>
            <c:strRef>
              <c:f>задача2!$L$35</c:f>
              <c:strCache>
                <c:ptCount val="1"/>
                <c:pt idx="0">
                  <c:v>3 серв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задача2!$I$36:$I$38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задача2!$L$36:$L$38</c:f>
              <c:numCache>
                <c:formatCode>0%</c:formatCode>
                <c:ptCount val="3"/>
                <c:pt idx="0">
                  <c:v>1.0525568181818181</c:v>
                </c:pt>
                <c:pt idx="1">
                  <c:v>1.2300944669365721</c:v>
                </c:pt>
                <c:pt idx="2">
                  <c:v>1.7399890290729567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4B7-44D2-AF36-409425005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3908728"/>
        <c:axId val="563904792"/>
      </c:lineChart>
      <c:catAx>
        <c:axId val="563908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63904792"/>
        <c:crosses val="autoZero"/>
        <c:auto val="1"/>
        <c:lblAlgn val="ctr"/>
        <c:lblOffset val="100"/>
        <c:noMultiLvlLbl val="0"/>
      </c:catAx>
      <c:valAx>
        <c:axId val="56390479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63908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[01_transaction_list.xlsx]задача3!Сводная таблица7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задача3!$B$3:$B$4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задача3!$A$5:$A$11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задача3!$B$5:$B$11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1-4ED5-8110-E54488CC3420}"/>
            </c:ext>
          </c:extLst>
        </c:ser>
        <c:ser>
          <c:idx val="1"/>
          <c:order val="1"/>
          <c:tx>
            <c:strRef>
              <c:f>задача3!$C$3:$C$4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задача3!$A$5:$A$11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задача3!$C$5:$C$11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31-4ED5-8110-E54488CC3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100"/>
        <c:axId val="520843448"/>
        <c:axId val="520844432"/>
      </c:barChart>
      <c:catAx>
        <c:axId val="5208434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844432"/>
        <c:crosses val="autoZero"/>
        <c:auto val="1"/>
        <c:lblAlgn val="ctr"/>
        <c:lblOffset val="100"/>
        <c:noMultiLvlLbl val="0"/>
      </c:catAx>
      <c:valAx>
        <c:axId val="520844432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>
            <a:solidFill>
              <a:srgbClr val="FBF4EF">
                <a:shade val="50000"/>
              </a:srgb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843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[01_transaction_list.xlsx]задача3!Сводная таблица10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301834387459133"/>
          <c:y val="0.32498050325263172"/>
          <c:w val="0.77876739342721391"/>
          <c:h val="0.56090498233018937"/>
        </c:manualLayout>
      </c:layout>
      <c:lineChart>
        <c:grouping val="standard"/>
        <c:varyColors val="0"/>
        <c:ser>
          <c:idx val="0"/>
          <c:order val="0"/>
          <c:tx>
            <c:strRef>
              <c:f>задача3!$K$9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задача3!$J$10:$J$14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задача3!$K$10:$K$14</c:f>
              <c:numCache>
                <c:formatCode>0.0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9C-481A-B9C9-A8958F0042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3302232"/>
        <c:axId val="793295344"/>
      </c:lineChart>
      <c:catAx>
        <c:axId val="793302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3295344"/>
        <c:crosses val="autoZero"/>
        <c:auto val="1"/>
        <c:lblAlgn val="ctr"/>
        <c:lblOffset val="100"/>
        <c:noMultiLvlLbl val="0"/>
      </c:catAx>
      <c:valAx>
        <c:axId val="79329534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3302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[01_transaction_list.xlsx]задача3!Сводная таблица8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153688690195106"/>
          <c:y val="0.10665485345192738"/>
          <c:w val="0.85833967113887855"/>
          <c:h val="0.77203679802394587"/>
        </c:manualLayout>
      </c:layout>
      <c:lineChart>
        <c:grouping val="standard"/>
        <c:varyColors val="0"/>
        <c:ser>
          <c:idx val="0"/>
          <c:order val="0"/>
          <c:tx>
            <c:strRef>
              <c:f>задача3!$H$3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задача3!$G$4:$G$8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задача3!$H$4:$H$8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3-4181-A533-FB0227415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3298296"/>
        <c:axId val="793296328"/>
      </c:lineChart>
      <c:catAx>
        <c:axId val="793298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3296328"/>
        <c:crosses val="autoZero"/>
        <c:auto val="1"/>
        <c:lblAlgn val="ctr"/>
        <c:lblOffset val="100"/>
        <c:noMultiLvlLbl val="0"/>
      </c:catAx>
      <c:valAx>
        <c:axId val="793296328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3298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[Transaction_list.xlsx]домашнее!Сводная таблица16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домашнее!$B$3:$B$4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домашнее!$A$5:$A$29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домашнее!$B$5:$B$29</c:f>
              <c:numCache>
                <c:formatCode>0.00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20-4F2F-BF96-471A2603E2C3}"/>
            </c:ext>
          </c:extLst>
        </c:ser>
        <c:ser>
          <c:idx val="1"/>
          <c:order val="1"/>
          <c:tx>
            <c:strRef>
              <c:f>домашнее!$C$3:$C$4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домашнее!$A$5:$A$29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домашнее!$C$5:$C$29</c:f>
              <c:numCache>
                <c:formatCode>0.00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20-4F2F-BF96-471A2603E2C3}"/>
            </c:ext>
          </c:extLst>
        </c:ser>
        <c:ser>
          <c:idx val="2"/>
          <c:order val="2"/>
          <c:tx>
            <c:strRef>
              <c:f>домашнее!$D$3:$D$4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домашнее!$A$5:$A$29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домашнее!$D$5:$D$29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20-4F2F-BF96-471A2603E2C3}"/>
            </c:ext>
          </c:extLst>
        </c:ser>
        <c:ser>
          <c:idx val="3"/>
          <c:order val="3"/>
          <c:tx>
            <c:strRef>
              <c:f>домашнее!$E$3:$E$4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домашнее!$A$5:$A$29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домашнее!$E$5:$E$29</c:f>
              <c:numCache>
                <c:formatCode>0.00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20-4F2F-BF96-471A2603E2C3}"/>
            </c:ext>
          </c:extLst>
        </c:ser>
        <c:ser>
          <c:idx val="4"/>
          <c:order val="4"/>
          <c:tx>
            <c:strRef>
              <c:f>домашнее!$F$3:$F$4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домашнее!$A$5:$A$29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домашнее!$F$5:$F$29</c:f>
              <c:numCache>
                <c:formatCode>0.00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E20-4F2F-BF96-471A2603E2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0833608"/>
        <c:axId val="520832624"/>
      </c:lineChart>
      <c:catAx>
        <c:axId val="520833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832624"/>
        <c:crosses val="autoZero"/>
        <c:auto val="1"/>
        <c:lblAlgn val="ctr"/>
        <c:lblOffset val="100"/>
        <c:noMultiLvlLbl val="0"/>
      </c:catAx>
      <c:valAx>
        <c:axId val="52083262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833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userShapes r:id="rId5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[01_transaction_list.xlsx]домашнее!Сводная таблица8</c:name>
    <c:fmtId val="18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домашнее!$V$3:$V$4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домашнее!$U$5:$U$29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домашнее!$V$5:$V$29</c:f>
              <c:numCache>
                <c:formatCode>0.00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B5-42E1-A726-44CDA12B1BC3}"/>
            </c:ext>
          </c:extLst>
        </c:ser>
        <c:ser>
          <c:idx val="1"/>
          <c:order val="1"/>
          <c:tx>
            <c:strRef>
              <c:f>домашнее!$W$3:$W$4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домашнее!$U$5:$U$29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домашнее!$W$5:$W$29</c:f>
              <c:numCache>
                <c:formatCode>0.00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B5-42E1-A726-44CDA12B1BC3}"/>
            </c:ext>
          </c:extLst>
        </c:ser>
        <c:ser>
          <c:idx val="2"/>
          <c:order val="2"/>
          <c:tx>
            <c:strRef>
              <c:f>домашнее!$X$3:$X$4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домашнее!$U$5:$U$29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домашнее!$X$5:$X$29</c:f>
              <c:numCache>
                <c:formatCode>0.00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B5-42E1-A726-44CDA12B1BC3}"/>
            </c:ext>
          </c:extLst>
        </c:ser>
        <c:ser>
          <c:idx val="3"/>
          <c:order val="3"/>
          <c:tx>
            <c:strRef>
              <c:f>домашнее!$Y$3:$Y$4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домашнее!$U$5:$U$29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домашнее!$Y$5:$Y$29</c:f>
              <c:numCache>
                <c:formatCode>0.00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6B5-42E1-A726-44CDA12B1BC3}"/>
            </c:ext>
          </c:extLst>
        </c:ser>
        <c:ser>
          <c:idx val="4"/>
          <c:order val="4"/>
          <c:tx>
            <c:strRef>
              <c:f>домашнее!$Z$3:$Z$4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домашнее!$U$5:$U$29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домашнее!$Z$5:$Z$29</c:f>
              <c:numCache>
                <c:formatCode>0.00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6B5-42E1-A726-44CDA12B1B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5937136"/>
        <c:axId val="605944680"/>
      </c:lineChart>
      <c:catAx>
        <c:axId val="60593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5944680"/>
        <c:crosses val="autoZero"/>
        <c:auto val="1"/>
        <c:lblAlgn val="ctr"/>
        <c:lblOffset val="100"/>
        <c:noMultiLvlLbl val="0"/>
      </c:catAx>
      <c:valAx>
        <c:axId val="605944680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593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[01_transaction_list.xlsx]домашнее!Сводная таблица2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9333707889464857E-2"/>
          <c:y val="4.7672802819554515E-2"/>
          <c:w val="0.90393324123794117"/>
          <c:h val="0.85178842967084267"/>
        </c:manualLayout>
      </c:layout>
      <c:lineChart>
        <c:grouping val="standard"/>
        <c:varyColors val="0"/>
        <c:ser>
          <c:idx val="0"/>
          <c:order val="0"/>
          <c:tx>
            <c:strRef>
              <c:f>домашнее!$J$3:$J$4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домашнее!$I$5:$I$29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домашнее!$J$5:$J$29</c:f>
              <c:numCache>
                <c:formatCode>0.00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3C-4318-A6FB-2CB7A7FF0FDF}"/>
            </c:ext>
          </c:extLst>
        </c:ser>
        <c:ser>
          <c:idx val="1"/>
          <c:order val="1"/>
          <c:tx>
            <c:strRef>
              <c:f>домашнее!$K$3:$K$4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домашнее!$I$5:$I$29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домашнее!$K$5:$K$29</c:f>
              <c:numCache>
                <c:formatCode>0.00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3C-4318-A6FB-2CB7A7FF0FDF}"/>
            </c:ext>
          </c:extLst>
        </c:ser>
        <c:ser>
          <c:idx val="2"/>
          <c:order val="2"/>
          <c:tx>
            <c:strRef>
              <c:f>домашнее!$L$3:$L$4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домашнее!$I$5:$I$29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домашнее!$L$5:$L$29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3C-4318-A6FB-2CB7A7FF0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7193904"/>
        <c:axId val="587194560"/>
      </c:lineChart>
      <c:catAx>
        <c:axId val="58719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7194560"/>
        <c:crosses val="autoZero"/>
        <c:auto val="1"/>
        <c:lblAlgn val="ctr"/>
        <c:lblOffset val="100"/>
        <c:noMultiLvlLbl val="0"/>
      </c:catAx>
      <c:valAx>
        <c:axId val="587194560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719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[01_transaction_list.xlsx]домашнее!Сводная таблица4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4429762999291567E-2"/>
          <c:y val="3.4200072556630393E-2"/>
          <c:w val="0.85823010917863574"/>
          <c:h val="0.88368215718407361"/>
        </c:manualLayout>
      </c:layout>
      <c:lineChart>
        <c:grouping val="standard"/>
        <c:varyColors val="0"/>
        <c:ser>
          <c:idx val="0"/>
          <c:order val="0"/>
          <c:tx>
            <c:strRef>
              <c:f>домашнее!$P$3:$P$4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домашнее!$O$5:$O$29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домашнее!$P$5:$P$29</c:f>
              <c:numCache>
                <c:formatCode>0.00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4D-4769-8A78-C663C1BD167C}"/>
            </c:ext>
          </c:extLst>
        </c:ser>
        <c:ser>
          <c:idx val="1"/>
          <c:order val="1"/>
          <c:tx>
            <c:strRef>
              <c:f>домашнее!$Q$3:$Q$4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домашнее!$O$5:$O$29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домашнее!$Q$5:$Q$29</c:f>
              <c:numCache>
                <c:formatCode>0.00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4D-4769-8A78-C663C1BD167C}"/>
            </c:ext>
          </c:extLst>
        </c:ser>
        <c:ser>
          <c:idx val="2"/>
          <c:order val="2"/>
          <c:tx>
            <c:strRef>
              <c:f>домашнее!$R$3:$R$4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домашнее!$O$5:$O$29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домашнее!$R$5:$R$29</c:f>
              <c:numCache>
                <c:formatCode>0.00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4D-4769-8A78-C663C1BD1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1398632"/>
        <c:axId val="621405848"/>
      </c:lineChart>
      <c:catAx>
        <c:axId val="621398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1405848"/>
        <c:crosses val="autoZero"/>
        <c:auto val="1"/>
        <c:lblAlgn val="ctr"/>
        <c:lblOffset val="100"/>
        <c:noMultiLvlLbl val="0"/>
      </c:catAx>
      <c:valAx>
        <c:axId val="62140584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1398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[Диаграмма в Microsoft PowerPoint]Задача1!Сводная таблица1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Задача1!$B$6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Задача1!$A$7:$A$10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Задача1!$B$7:$B$10</c:f>
              <c:numCache>
                <c:formatCode>0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9-4DC6-A5B4-3A4F7F68D4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639216144"/>
        <c:axId val="639217456"/>
      </c:barChart>
      <c:lineChart>
        <c:grouping val="standard"/>
        <c:varyColors val="0"/>
        <c:ser>
          <c:idx val="1"/>
          <c:order val="1"/>
          <c:tx>
            <c:strRef>
              <c:f>Задача1!$C$6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Задача1!$A$7:$A$10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Задача1!$C$7:$C$10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49-4DC6-A5B4-3A4F7F68D4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492296"/>
        <c:axId val="630496232"/>
      </c:lineChart>
      <c:catAx>
        <c:axId val="63921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7456"/>
        <c:crosses val="autoZero"/>
        <c:auto val="1"/>
        <c:lblAlgn val="ctr"/>
        <c:lblOffset val="100"/>
        <c:noMultiLvlLbl val="0"/>
      </c:catAx>
      <c:valAx>
        <c:axId val="639217456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6144"/>
        <c:crosses val="autoZero"/>
        <c:crossBetween val="between"/>
      </c:valAx>
      <c:valAx>
        <c:axId val="630496232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0492296"/>
        <c:crosses val="max"/>
        <c:crossBetween val="between"/>
      </c:valAx>
      <c:catAx>
        <c:axId val="6304922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30496232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[02_transaction_list2.xlsx]Задача1!Сводная таблица5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Задача1!$B$17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Задача1!$A$18:$A$21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Задача1!$B$18:$B$21</c:f>
              <c:numCache>
                <c:formatCode>0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9-4BA9-AEDD-9F92FC2DF7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1078665928"/>
        <c:axId val="1078671504"/>
      </c:barChart>
      <c:lineChart>
        <c:grouping val="standard"/>
        <c:varyColors val="0"/>
        <c:ser>
          <c:idx val="1"/>
          <c:order val="1"/>
          <c:tx>
            <c:strRef>
              <c:f>Задача1!$C$17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Задача1!$A$18:$A$21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Задача1!$C$18:$C$21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E9-4BA9-AEDD-9F92FC2DF7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96715576"/>
        <c:axId val="596713280"/>
      </c:lineChart>
      <c:catAx>
        <c:axId val="1078665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8671504"/>
        <c:crosses val="autoZero"/>
        <c:auto val="1"/>
        <c:lblAlgn val="ctr"/>
        <c:lblOffset val="100"/>
        <c:noMultiLvlLbl val="0"/>
      </c:catAx>
      <c:valAx>
        <c:axId val="1078671504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8665928"/>
        <c:crosses val="autoZero"/>
        <c:crossBetween val="between"/>
      </c:valAx>
      <c:valAx>
        <c:axId val="596713280"/>
        <c:scaling>
          <c:orientation val="minMax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6715576"/>
        <c:crosses val="max"/>
        <c:crossBetween val="between"/>
      </c:valAx>
      <c:catAx>
        <c:axId val="59671557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96713280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[02_transaction_list2.xlsx]Задача1!Сводная таблица6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Задача1!$B$29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b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Задача1!$A$30:$A$33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Задача1!$B$30:$B$33</c:f>
              <c:numCache>
                <c:formatCode>0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3-4E42-907D-AA89378F1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26564232"/>
        <c:axId val="626564560"/>
      </c:barChart>
      <c:lineChart>
        <c:grouping val="standard"/>
        <c:varyColors val="0"/>
        <c:ser>
          <c:idx val="1"/>
          <c:order val="1"/>
          <c:tx>
            <c:strRef>
              <c:f>Задача1!$C$29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Задача1!$A$30:$A$33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Задача1!$C$30:$C$33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D3-4E42-907D-AA89378F1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6563248"/>
        <c:axId val="626562592"/>
      </c:lineChart>
      <c:catAx>
        <c:axId val="626564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6564560"/>
        <c:crosses val="autoZero"/>
        <c:auto val="1"/>
        <c:lblAlgn val="ctr"/>
        <c:lblOffset val="100"/>
        <c:noMultiLvlLbl val="0"/>
      </c:catAx>
      <c:valAx>
        <c:axId val="626564560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6564232"/>
        <c:crosses val="autoZero"/>
        <c:crossBetween val="between"/>
      </c:valAx>
      <c:valAx>
        <c:axId val="626562592"/>
        <c:scaling>
          <c:orientation val="minMax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6563248"/>
        <c:crosses val="max"/>
        <c:crossBetween val="between"/>
      </c:valAx>
      <c:catAx>
        <c:axId val="6265632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265625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[02_transaction_list2.xlsx]Задача 2!Сводная таблица7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ranklin Gothic Medium" panose="020B0603020102020204" pitchFamily="34" charset="0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Число элементов в столбце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94-4DE9-A6C6-800A2B46EBE4}"/>
            </c:ext>
          </c:extLst>
        </c:ser>
        <c:ser>
          <c:idx val="1"/>
          <c:order val="1"/>
          <c:tx>
            <c:strRef>
              <c:f>'Задача 2'!$C$3</c:f>
              <c:strCache>
                <c:ptCount val="1"/>
                <c:pt idx="0">
                  <c:v>Среднее по столбцу sum_payment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2'!$C$4:$C$7</c:f>
              <c:numCache>
                <c:formatCode>_("₽"* #,##0.00_);_("₽"* \(#,##0.00\);_("₽"* "-"??_);_(@_)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94-4DE9-A6C6-800A2B46EB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9"/>
        <c:overlap val="-23"/>
        <c:axId val="639212208"/>
        <c:axId val="639212536"/>
      </c:barChart>
      <c:catAx>
        <c:axId val="63921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2536"/>
        <c:crosses val="autoZero"/>
        <c:auto val="1"/>
        <c:lblAlgn val="ctr"/>
        <c:lblOffset val="100"/>
        <c:noMultiLvlLbl val="0"/>
      </c:catAx>
      <c:valAx>
        <c:axId val="6392125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2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[02_transaction_list2.xlsx]ДЗ!Сводная таблица9</c:name>
    <c:fmtId val="15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ДЗ!$C$3</c:f>
              <c:strCache>
                <c:ptCount val="1"/>
                <c:pt idx="0">
                  <c:v>Число элементов в столбце id_transaction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ДЗ!$C$4:$C$7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86-4FFE-A26D-AD0E55E7C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595544680"/>
        <c:axId val="595544352"/>
      </c:barChart>
      <c:lineChart>
        <c:grouping val="standard"/>
        <c:varyColors val="0"/>
        <c:ser>
          <c:idx val="0"/>
          <c:order val="0"/>
          <c:tx>
            <c:strRef>
              <c:f>ДЗ!$B$3</c:f>
              <c:strCache>
                <c:ptCount val="1"/>
                <c:pt idx="0">
                  <c:v>Среднее по столбцу loyal_prog_rub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ДЗ!$B$4:$B$7</c:f>
              <c:numCache>
                <c:formatCode>0.00</c:formatCode>
                <c:ptCount val="3"/>
                <c:pt idx="0">
                  <c:v>124.90486543033998</c:v>
                </c:pt>
                <c:pt idx="1">
                  <c:v>129.45734490271843</c:v>
                </c:pt>
                <c:pt idx="2">
                  <c:v>140.67923712871175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86-4FFE-A26D-AD0E55E7C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0481472"/>
        <c:axId val="630481144"/>
      </c:lineChart>
      <c:valAx>
        <c:axId val="59554435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5544680"/>
        <c:crosses val="max"/>
        <c:crossBetween val="between"/>
      </c:valAx>
      <c:catAx>
        <c:axId val="595544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5544352"/>
        <c:crosses val="autoZero"/>
        <c:auto val="1"/>
        <c:lblAlgn val="ctr"/>
        <c:lblOffset val="100"/>
        <c:noMultiLvlLbl val="0"/>
      </c:catAx>
      <c:valAx>
        <c:axId val="630481144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0481472"/>
        <c:crosses val="autoZero"/>
        <c:crossBetween val="between"/>
      </c:valAx>
      <c:catAx>
        <c:axId val="6304814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304811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[02_transaction_list2.xlsx]ДЗ!Сводная таблица10</c:name>
    <c:fmtId val="1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093614212368623"/>
          <c:y val="2.7172515772563452E-2"/>
          <c:w val="0.81039002569355989"/>
          <c:h val="0.891161910875862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ДЗ!$F$3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ДЗ!$E$4:$E$8</c:f>
              <c:strCache>
                <c:ptCount val="4"/>
                <c:pt idx="0">
                  <c:v>0,01</c:v>
                </c:pt>
                <c:pt idx="1">
                  <c:v>0,02</c:v>
                </c:pt>
                <c:pt idx="2">
                  <c:v>0,03</c:v>
                </c:pt>
                <c:pt idx="3">
                  <c:v>0,04</c:v>
                </c:pt>
              </c:strCache>
            </c:strRef>
          </c:cat>
          <c:val>
            <c:numRef>
              <c:f>ДЗ!$F$4:$F$8</c:f>
              <c:numCache>
                <c:formatCode>_("₽"* #,##0.00_);_("₽"* \(#,##0.00\);_("₽"* "-"??_);_(@_)</c:formatCode>
                <c:ptCount val="4"/>
                <c:pt idx="0">
                  <c:v>246507.15988063</c:v>
                </c:pt>
                <c:pt idx="1">
                  <c:v>730390.45374522021</c:v>
                </c:pt>
                <c:pt idx="2">
                  <c:v>1258800.7875509462</c:v>
                </c:pt>
                <c:pt idx="3">
                  <c:v>1765252.9007042588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90-4454-9231-231A46D0BB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7"/>
        <c:axId val="1074687736"/>
        <c:axId val="1074692000"/>
      </c:barChart>
      <c:catAx>
        <c:axId val="1074687736"/>
        <c:scaling>
          <c:orientation val="minMax"/>
        </c:scaling>
        <c:delete val="1"/>
        <c:axPos val="b"/>
        <c:numFmt formatCode="0%" sourceLinked="0"/>
        <c:majorTickMark val="out"/>
        <c:minorTickMark val="none"/>
        <c:tickLblPos val="nextTo"/>
        <c:crossAx val="1074692000"/>
        <c:crosses val="autoZero"/>
        <c:auto val="1"/>
        <c:lblAlgn val="ctr"/>
        <c:lblOffset val="100"/>
        <c:noMultiLvlLbl val="0"/>
      </c:catAx>
      <c:valAx>
        <c:axId val="1074692000"/>
        <c:scaling>
          <c:orientation val="minMax"/>
        </c:scaling>
        <c:delete val="0"/>
        <c:axPos val="l"/>
        <c:numFmt formatCode="_(&quot;₽&quot;* #,##0_);_(&quot;₽&quot;* \(#,##0\);_(&quot;₽&quot;* &quot;-&quot;_);_(@_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4687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[02_transaction_list2.xlsx]ДЗ!Сводная таблица13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ДЗ!$C$35</c:f>
              <c:strCache>
                <c:ptCount val="1"/>
                <c:pt idx="0">
                  <c:v>Число элементов в столбце id_transaction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ДЗ!$A$36:$A$39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ДЗ!$C$36:$C$39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4-4B2D-A634-D4E47421E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073630312"/>
        <c:axId val="1073628016"/>
      </c:barChart>
      <c:lineChart>
        <c:grouping val="standard"/>
        <c:varyColors val="0"/>
        <c:ser>
          <c:idx val="0"/>
          <c:order val="0"/>
          <c:tx>
            <c:strRef>
              <c:f>ДЗ!$B$35</c:f>
              <c:strCache>
                <c:ptCount val="1"/>
                <c:pt idx="0">
                  <c:v>Среднее по столбцу new_loyal_prog_rub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ДЗ!$A$36:$A$39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ДЗ!$B$36:$B$39</c:f>
              <c:numCache>
                <c:formatCode>0.00</c:formatCode>
                <c:ptCount val="3"/>
                <c:pt idx="0">
                  <c:v>108.81234302700643</c:v>
                </c:pt>
                <c:pt idx="1">
                  <c:v>112.46365558584678</c:v>
                </c:pt>
                <c:pt idx="2">
                  <c:v>122.6347342033023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24-4B2D-A634-D4E47421E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5699168"/>
        <c:axId val="1105699824"/>
      </c:lineChart>
      <c:catAx>
        <c:axId val="110569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5699824"/>
        <c:crosses val="autoZero"/>
        <c:auto val="1"/>
        <c:lblAlgn val="ctr"/>
        <c:lblOffset val="100"/>
        <c:noMultiLvlLbl val="0"/>
      </c:catAx>
      <c:valAx>
        <c:axId val="1105699824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5699168"/>
        <c:crosses val="autoZero"/>
        <c:crossBetween val="between"/>
      </c:valAx>
      <c:valAx>
        <c:axId val="107362801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3630312"/>
        <c:crosses val="max"/>
        <c:crossBetween val="between"/>
      </c:valAx>
      <c:catAx>
        <c:axId val="10736303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736280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[02_transaction_list2.xlsx]ДЗ!Сводная таблица14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ДЗ!$F$35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ДЗ!$E$36:$E$40</c:f>
              <c:strCache>
                <c:ptCount val="4"/>
                <c:pt idx="0">
                  <c:v>до 1%</c:v>
                </c:pt>
                <c:pt idx="1">
                  <c:v>1-2%</c:v>
                </c:pt>
                <c:pt idx="2">
                  <c:v>2-3%</c:v>
                </c:pt>
                <c:pt idx="3">
                  <c:v>3%</c:v>
                </c:pt>
              </c:strCache>
            </c:strRef>
          </c:cat>
          <c:val>
            <c:numRef>
              <c:f>ДЗ!$F$36:$F$40</c:f>
              <c:numCache>
                <c:formatCode>_("₽"* #,##0.00_);_("₽"* \(#,##0.00\);_("₽"* "-"??_);_(@_)</c:formatCode>
                <c:ptCount val="4"/>
                <c:pt idx="0">
                  <c:v>242437.77604224611</c:v>
                </c:pt>
                <c:pt idx="1">
                  <c:v>724152.85799176723</c:v>
                </c:pt>
                <c:pt idx="2">
                  <c:v>2498420.0686409343</c:v>
                </c:pt>
                <c:pt idx="3">
                  <c:v>18058.360824742285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4D-4AF2-A66C-D7C9BB76E5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27"/>
        <c:axId val="639211552"/>
        <c:axId val="639210240"/>
      </c:barChart>
      <c:catAx>
        <c:axId val="63921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0240"/>
        <c:crosses val="autoZero"/>
        <c:auto val="1"/>
        <c:lblAlgn val="ctr"/>
        <c:lblOffset val="100"/>
        <c:noMultiLvlLbl val="0"/>
      </c:catAx>
      <c:valAx>
        <c:axId val="639210240"/>
        <c:scaling>
          <c:orientation val="minMax"/>
        </c:scaling>
        <c:delete val="0"/>
        <c:axPos val="l"/>
        <c:numFmt formatCode="_(&quot;₽&quot;* #,##0_);_(&quot;₽&quot;* \(#,##0\);_(&quot;₽&quot;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9211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dashboard!$B$6</c:f>
              <c:strCache>
                <c:ptCount val="1"/>
                <c:pt idx="0">
                  <c:v>COUNT из id_transaction</c:v>
                </c:pt>
              </c:strCache>
            </c:strRef>
          </c:tx>
          <c:spPr>
            <a:solidFill>
              <a:srgbClr val="4285F4"/>
            </a:solidFill>
            <a:ln cmpd="sng">
              <a:solidFill>
                <a:srgbClr val="000000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lvl="0">
                  <a:defRPr>
                    <a:solidFill>
                      <a:schemeClr val="accent1">
                        <a:lumMod val="25000"/>
                      </a:schemeClr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dashboard!$A$7:$A$13</c:f>
              <c:strCache>
                <c:ptCount val="7"/>
                <c:pt idx="0">
                  <c:v>1-сент.</c:v>
                </c:pt>
                <c:pt idx="1">
                  <c:v>2-сент.</c:v>
                </c:pt>
                <c:pt idx="2">
                  <c:v>3-сент.</c:v>
                </c:pt>
                <c:pt idx="3">
                  <c:v>4-сент.</c:v>
                </c:pt>
                <c:pt idx="4">
                  <c:v>5-сент.</c:v>
                </c:pt>
                <c:pt idx="5">
                  <c:v>6-сент.</c:v>
                </c:pt>
                <c:pt idx="6">
                  <c:v>7-сент.</c:v>
                </c:pt>
              </c:strCache>
            </c:strRef>
          </c:cat>
          <c:val>
            <c:numRef>
              <c:f>dashboard!$B$7:$B$13</c:f>
              <c:numCache>
                <c:formatCode>General</c:formatCode>
                <c:ptCount val="7"/>
                <c:pt idx="0">
                  <c:v>469</c:v>
                </c:pt>
                <c:pt idx="1">
                  <c:v>228</c:v>
                </c:pt>
                <c:pt idx="2">
                  <c:v>49</c:v>
                </c:pt>
                <c:pt idx="3">
                  <c:v>63</c:v>
                </c:pt>
                <c:pt idx="4">
                  <c:v>57</c:v>
                </c:pt>
                <c:pt idx="5">
                  <c:v>59</c:v>
                </c:pt>
                <c:pt idx="6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E7F-4F84-9366-2D0D1A772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40"/>
        <c:axId val="551699533"/>
        <c:axId val="1814636649"/>
      </c:barChart>
      <c:catAx>
        <c:axId val="55169953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ru-RU"/>
          </a:p>
        </c:txPr>
        <c:crossAx val="1814636649"/>
        <c:crosses val="autoZero"/>
        <c:auto val="1"/>
        <c:lblAlgn val="ctr"/>
        <c:lblOffset val="100"/>
        <c:noMultiLvlLbl val="1"/>
      </c:catAx>
      <c:valAx>
        <c:axId val="181463664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solidFill/>
          </a:ln>
        </c:spPr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ru-RU"/>
          </a:p>
        </c:txPr>
        <c:crossAx val="551699533"/>
        <c:crosses val="autoZero"/>
        <c:crossBetween val="between"/>
      </c:valAx>
    </c:plotArea>
    <c:plotVisOnly val="1"/>
    <c:dispBlanksAs val="zero"/>
    <c:showDLblsOverMax val="1"/>
  </c:char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[Диаграмма в Microsoft PowerPoint]dashboard!dashboard</c:name>
    <c:fmtId val="6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5112323538854997"/>
          <c:y val="5.3724053724053727E-2"/>
          <c:w val="0.72720422572498455"/>
          <c:h val="0.892551892551892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dashboard!$B$17:$B$18</c:f>
              <c:strCache>
                <c:ptCount val="1"/>
                <c:pt idx="0">
                  <c:v>MasterCard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dashboard!$A$19:$A$26</c:f>
              <c:strCache>
                <c:ptCount val="8"/>
                <c:pt idx="0">
                  <c:v>&lt;01.09.2022 или (пусто)</c:v>
                </c:pt>
                <c:pt idx="1">
                  <c:v>01.сен</c:v>
                </c:pt>
                <c:pt idx="2">
                  <c:v>02.сен</c:v>
                </c:pt>
                <c:pt idx="3">
                  <c:v>03.сен</c:v>
                </c:pt>
                <c:pt idx="4">
                  <c:v>04.сен</c:v>
                </c:pt>
                <c:pt idx="5">
                  <c:v>05.сен</c:v>
                </c:pt>
                <c:pt idx="6">
                  <c:v>06.сен</c:v>
                </c:pt>
                <c:pt idx="7">
                  <c:v>07.сен</c:v>
                </c:pt>
              </c:strCache>
            </c:strRef>
          </c:cat>
          <c:val>
            <c:numRef>
              <c:f>dashboard!$B$19:$B$26</c:f>
              <c:numCache>
                <c:formatCode>General</c:formatCode>
                <c:ptCount val="8"/>
                <c:pt idx="1">
                  <c:v>160704</c:v>
                </c:pt>
                <c:pt idx="2">
                  <c:v>383681</c:v>
                </c:pt>
                <c:pt idx="3">
                  <c:v>78817</c:v>
                </c:pt>
                <c:pt idx="4">
                  <c:v>106499</c:v>
                </c:pt>
                <c:pt idx="5">
                  <c:v>203526</c:v>
                </c:pt>
                <c:pt idx="6">
                  <c:v>160365</c:v>
                </c:pt>
                <c:pt idx="7">
                  <c:v>103545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4-48AC-B297-419FF0A449B1}"/>
            </c:ext>
          </c:extLst>
        </c:ser>
        <c:ser>
          <c:idx val="1"/>
          <c:order val="1"/>
          <c:tx>
            <c:strRef>
              <c:f>dashboard!$C$17:$C$18</c:f>
              <c:strCache>
                <c:ptCount val="1"/>
                <c:pt idx="0">
                  <c:v>Visa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dashboard!$A$19:$A$26</c:f>
              <c:strCache>
                <c:ptCount val="8"/>
                <c:pt idx="0">
                  <c:v>&lt;01.09.2022 или (пусто)</c:v>
                </c:pt>
                <c:pt idx="1">
                  <c:v>01.сен</c:v>
                </c:pt>
                <c:pt idx="2">
                  <c:v>02.сен</c:v>
                </c:pt>
                <c:pt idx="3">
                  <c:v>03.сен</c:v>
                </c:pt>
                <c:pt idx="4">
                  <c:v>04.сен</c:v>
                </c:pt>
                <c:pt idx="5">
                  <c:v>05.сен</c:v>
                </c:pt>
                <c:pt idx="6">
                  <c:v>06.сен</c:v>
                </c:pt>
                <c:pt idx="7">
                  <c:v>07.сен</c:v>
                </c:pt>
              </c:strCache>
            </c:strRef>
          </c:cat>
          <c:val>
            <c:numRef>
              <c:f>dashboard!$C$19:$C$26</c:f>
              <c:numCache>
                <c:formatCode>General</c:formatCode>
                <c:ptCount val="8"/>
                <c:pt idx="1">
                  <c:v>329184</c:v>
                </c:pt>
                <c:pt idx="2">
                  <c:v>640721</c:v>
                </c:pt>
                <c:pt idx="3">
                  <c:v>147876</c:v>
                </c:pt>
                <c:pt idx="4">
                  <c:v>231467</c:v>
                </c:pt>
                <c:pt idx="5">
                  <c:v>92040</c:v>
                </c:pt>
                <c:pt idx="6">
                  <c:v>128777</c:v>
                </c:pt>
                <c:pt idx="7">
                  <c:v>47722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94-48AC-B297-419FF0A449B1}"/>
            </c:ext>
          </c:extLst>
        </c:ser>
        <c:ser>
          <c:idx val="2"/>
          <c:order val="2"/>
          <c:tx>
            <c:strRef>
              <c:f>dashboard!$D$17:$D$18</c:f>
              <c:strCache>
                <c:ptCount val="1"/>
                <c:pt idx="0">
                  <c:v>МИР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dashboard!$A$19:$A$26</c:f>
              <c:strCache>
                <c:ptCount val="8"/>
                <c:pt idx="0">
                  <c:v>&lt;01.09.2022 или (пусто)</c:v>
                </c:pt>
                <c:pt idx="1">
                  <c:v>01.сен</c:v>
                </c:pt>
                <c:pt idx="2">
                  <c:v>02.сен</c:v>
                </c:pt>
                <c:pt idx="3">
                  <c:v>03.сен</c:v>
                </c:pt>
                <c:pt idx="4">
                  <c:v>04.сен</c:v>
                </c:pt>
                <c:pt idx="5">
                  <c:v>05.сен</c:v>
                </c:pt>
                <c:pt idx="6">
                  <c:v>06.сен</c:v>
                </c:pt>
                <c:pt idx="7">
                  <c:v>07.сен</c:v>
                </c:pt>
              </c:strCache>
            </c:strRef>
          </c:cat>
          <c:val>
            <c:numRef>
              <c:f>dashboard!$D$19:$D$26</c:f>
              <c:numCache>
                <c:formatCode>General</c:formatCode>
                <c:ptCount val="8"/>
                <c:pt idx="1">
                  <c:v>85396</c:v>
                </c:pt>
                <c:pt idx="2">
                  <c:v>353289</c:v>
                </c:pt>
                <c:pt idx="3">
                  <c:v>65363</c:v>
                </c:pt>
                <c:pt idx="4">
                  <c:v>60604</c:v>
                </c:pt>
                <c:pt idx="5">
                  <c:v>71916</c:v>
                </c:pt>
                <c:pt idx="6">
                  <c:v>100061</c:v>
                </c:pt>
                <c:pt idx="7">
                  <c:v>48047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94-48AC-B297-419FF0A449B1}"/>
            </c:ext>
          </c:extLst>
        </c:ser>
        <c:ser>
          <c:idx val="3"/>
          <c:order val="3"/>
          <c:tx>
            <c:strRef>
              <c:f>dashboard!$E$17:$E$18</c:f>
              <c:strCache>
                <c:ptCount val="1"/>
                <c:pt idx="0">
                  <c:v>(пусто)</c:v>
                </c:pt>
              </c:strCache>
            </c:strRef>
          </c:tx>
          <c:invertIfNegative val="0"/>
          <c:dLbls>
            <c:delete val="1"/>
          </c:dLbls>
          <c:cat>
            <c:strRef>
              <c:f>dashboard!$A$19:$A$26</c:f>
              <c:strCache>
                <c:ptCount val="8"/>
                <c:pt idx="0">
                  <c:v>&lt;01.09.2022 или (пусто)</c:v>
                </c:pt>
                <c:pt idx="1">
                  <c:v>01.сен</c:v>
                </c:pt>
                <c:pt idx="2">
                  <c:v>02.сен</c:v>
                </c:pt>
                <c:pt idx="3">
                  <c:v>03.сен</c:v>
                </c:pt>
                <c:pt idx="4">
                  <c:v>04.сен</c:v>
                </c:pt>
                <c:pt idx="5">
                  <c:v>05.сен</c:v>
                </c:pt>
                <c:pt idx="6">
                  <c:v>06.сен</c:v>
                </c:pt>
                <c:pt idx="7">
                  <c:v>07.сен</c:v>
                </c:pt>
              </c:strCache>
            </c:strRef>
          </c:cat>
          <c:val>
            <c:numRef>
              <c:f>dashboard!$E$19:$E$26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3-CC94-48AC-B297-419FF0A449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"/>
        <c:overlap val="100"/>
        <c:axId val="1707945934"/>
        <c:axId val="811925378"/>
      </c:barChart>
      <c:catAx>
        <c:axId val="1707945934"/>
        <c:scaling>
          <c:orientation val="minMax"/>
        </c:scaling>
        <c:delete val="1"/>
        <c:axPos val="b"/>
        <c:numFmt formatCode="General" sourceLinked="1"/>
        <c:majorTickMark val="out"/>
        <c:minorTickMark val="in"/>
        <c:tickLblPos val="nextTo"/>
        <c:crossAx val="811925378"/>
        <c:crosses val="autoZero"/>
        <c:auto val="0"/>
        <c:lblAlgn val="ctr"/>
        <c:lblOffset val="100"/>
        <c:noMultiLvlLbl val="1"/>
      </c:catAx>
      <c:valAx>
        <c:axId val="811925378"/>
        <c:scaling>
          <c:orientation val="minMax"/>
        </c:scaling>
        <c:delete val="0"/>
        <c:axPos val="l"/>
        <c:numFmt formatCode="#,##0.00\ &quot;₽&quot;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ru-RU"/>
          </a:p>
        </c:txPr>
        <c:crossAx val="1707945934"/>
        <c:crosses val="autoZero"/>
        <c:crossBetween val="midCat"/>
      </c:valAx>
      <c:spPr>
        <a:effectLst>
          <a:softEdge rad="63500"/>
        </a:effectLst>
      </c:spPr>
    </c:plotArea>
    <c:plotVisOnly val="1"/>
    <c:dispBlanksAs val="zero"/>
    <c:showDLblsOverMax val="1"/>
  </c:chart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0.78581</cdr:x>
      <cdr:y>0.13527</cdr:y>
    </cdr:from>
    <cdr:to>
      <cdr:x>0.81227</cdr:x>
      <cdr:y>0.40305</cdr:y>
    </cdr:to>
    <cdr:sp macro="" textlink="">
      <cdr:nvSpPr>
        <cdr:cNvPr id="2" name="Левая фигурная скобка 1">
          <a:extLst xmlns:a="http://schemas.openxmlformats.org/drawingml/2006/main">
            <a:ext uri="{FF2B5EF4-FFF2-40B4-BE49-F238E27FC236}">
              <a16:creationId xmlns:a16="http://schemas.microsoft.com/office/drawing/2014/main" id="{2EDC78EA-A76F-4CE8-95AF-EDAFCAAC5CDA}"/>
            </a:ext>
          </a:extLst>
        </cdr:cNvPr>
        <cdr:cNvSpPr/>
      </cdr:nvSpPr>
      <cdr:spPr>
        <a:xfrm xmlns:a="http://schemas.openxmlformats.org/drawingml/2006/main">
          <a:off x="3688528" y="394843"/>
          <a:ext cx="124182" cy="781616"/>
        </a:xfrm>
        <a:prstGeom xmlns:a="http://schemas.openxmlformats.org/drawingml/2006/main" prst="leftBrace">
          <a:avLst/>
        </a:prstGeom>
      </cdr:spPr>
      <cdr:style>
        <a:lnRef xmlns:a="http://schemas.openxmlformats.org/drawingml/2006/main" idx="1">
          <a:schemeClr val="accent5"/>
        </a:lnRef>
        <a:fillRef xmlns:a="http://schemas.openxmlformats.org/drawingml/2006/main" idx="0">
          <a:schemeClr val="accent5"/>
        </a:fillRef>
        <a:effectRef xmlns:a="http://schemas.openxmlformats.org/drawingml/2006/main" idx="0">
          <a:schemeClr val="accent5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0.04369</cdr:x>
      <cdr:y>0.85328</cdr:y>
    </cdr:from>
    <cdr:to>
      <cdr:x>0.24075</cdr:x>
      <cdr:y>0.93324</cdr:y>
    </cdr:to>
    <cdr:sp macro="" textlink="">
      <cdr:nvSpPr>
        <cdr:cNvPr id="4" name="TextBox 24">
          <a:extLst xmlns:a="http://schemas.openxmlformats.org/drawingml/2006/main">
            <a:ext uri="{FF2B5EF4-FFF2-40B4-BE49-F238E27FC236}">
              <a16:creationId xmlns:a16="http://schemas.microsoft.com/office/drawing/2014/main" id="{5651E28D-128F-4EB5-8B8F-8F923E6BB26A}"/>
            </a:ext>
          </a:extLst>
        </cdr:cNvPr>
        <cdr:cNvSpPr txBox="1"/>
      </cdr:nvSpPr>
      <cdr:spPr>
        <a:xfrm xmlns:a="http://schemas.openxmlformats.org/drawingml/2006/main">
          <a:off x="219316" y="2709705"/>
          <a:ext cx="989151" cy="25391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050" dirty="0"/>
            <a:t>Дни сентября</a:t>
          </a:r>
          <a:endParaRPr lang="ru-RU" sz="1050" b="1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0.06807</cdr:x>
      <cdr:y>0.84974</cdr:y>
    </cdr:from>
    <cdr:to>
      <cdr:x>0.26513</cdr:x>
      <cdr:y>0.9297</cdr:y>
    </cdr:to>
    <cdr:sp macro="" textlink="">
      <cdr:nvSpPr>
        <cdr:cNvPr id="2" name="TextBox 24">
          <a:extLst xmlns:a="http://schemas.openxmlformats.org/drawingml/2006/main">
            <a:ext uri="{FF2B5EF4-FFF2-40B4-BE49-F238E27FC236}">
              <a16:creationId xmlns:a16="http://schemas.microsoft.com/office/drawing/2014/main" id="{07A0C770-1860-4555-8469-4F0C134008B4}"/>
            </a:ext>
          </a:extLst>
        </cdr:cNvPr>
        <cdr:cNvSpPr txBox="1"/>
      </cdr:nvSpPr>
      <cdr:spPr>
        <a:xfrm xmlns:a="http://schemas.openxmlformats.org/drawingml/2006/main">
          <a:off x="341707" y="2698477"/>
          <a:ext cx="989151" cy="25391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050" dirty="0"/>
            <a:t>Дни сентября</a:t>
          </a:r>
          <a:endParaRPr lang="ru-RU" sz="105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0.89457</cdr:y>
    </cdr:from>
    <cdr:to>
      <cdr:x>0.1741</cdr:x>
      <cdr:y>0.99055</cdr:y>
    </cdr:to>
    <cdr:sp macro="" textlink="">
      <cdr:nvSpPr>
        <cdr:cNvPr id="2" name="TextBox 29">
          <a:extLst xmlns:a="http://schemas.openxmlformats.org/drawingml/2006/main">
            <a:ext uri="{FF2B5EF4-FFF2-40B4-BE49-F238E27FC236}">
              <a16:creationId xmlns:a16="http://schemas.microsoft.com/office/drawing/2014/main" id="{04F51270-5AA2-406A-B746-B1ADA8148BBB}"/>
            </a:ext>
          </a:extLst>
        </cdr:cNvPr>
        <cdr:cNvSpPr txBox="1"/>
      </cdr:nvSpPr>
      <cdr:spPr>
        <a:xfrm xmlns:a="http://schemas.openxmlformats.org/drawingml/2006/main">
          <a:off x="-697355" y="2438326"/>
          <a:ext cx="902097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 rtl="0">
            <a:defRPr lang="ru-RU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1100" b="1" dirty="0"/>
            <a:t>Часы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C48FB7-4632-4FB7-A822-C8EE7A1BCE57}" type="datetime1">
              <a:rPr lang="ru-RU" smtClean="0"/>
              <a:t>23.07.2026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D626-816E-4770-8022-B9B504B09470}" type="datetime1">
              <a:rPr lang="ru-RU" smtClean="0"/>
              <a:pPr/>
              <a:t>23.07.2026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будем работать с данными по транзакциям ретейловой сети SkyCrossroads.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SkyCrossroads — это розничная сеть круглосуточных продуктовых магазинов. Магазины расположены в нескольких районах города Москвы.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Покупки можно оплатить как на обычной кассе, так и через кассу самообслуживания.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магазинах действует программа лояльности: покупатели, участвующие в ней, получают скидку в форме определенного процента от суммы покупки. Размер скидки зависит от того, сколько человек потратил раньше: чем больше покупок, тем выше персональная скидка.</a:t>
            </a: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415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В начале сентября резкий рост числа транзакций. Цель не просто зафиксировать рост, а объяснить его причины. Рост не равно успех. </a:t>
            </a:r>
          </a:p>
          <a:p>
            <a:r>
              <a:rPr lang="ru-RU" b="1" dirty="0">
                <a:effectLst/>
              </a:rPr>
              <a:t>Рост  был равномерным или за счет отдельных точек.</a:t>
            </a:r>
          </a:p>
          <a:p>
            <a:r>
              <a:rPr lang="ru-RU" b="1" dirty="0">
                <a:effectLst/>
              </a:rPr>
              <a:t>Это результат удачной акции или перераспределение клиентов. </a:t>
            </a:r>
          </a:p>
          <a:p>
            <a:r>
              <a:rPr lang="ru-RU" b="1" dirty="0">
                <a:effectLst/>
              </a:rPr>
              <a:t>Каннибализм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рыночная ситуация, когда один бренд компании «пожирает» потребителей у другого бренда компании и возникает конкуренция между двумя марками одного производителя. </a:t>
            </a:r>
            <a:r>
              <a:rPr lang="ru-RU" b="1" dirty="0">
                <a:effectLst/>
              </a:rPr>
              <a:t>Каннибализм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может происходить внутри одной компании, когда различные сегменты (в данном случае торговые точки) перетягивают клиентов друг у друга, таким образом повышая свои продажи за счет соседа.</a:t>
            </a:r>
          </a:p>
          <a:p>
            <a:r>
              <a:rPr lang="ru-RU" b="1" dirty="0">
                <a:effectLst/>
              </a:rPr>
              <a:t>Инсайт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 англ.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неочевидный вывод или закономерность в данных, которые можно обнаружить с помощью исследования. Не путать с </a:t>
            </a:r>
            <a:r>
              <a:rPr lang="ru-RU" b="1" dirty="0">
                <a:effectLst/>
              </a:rPr>
              <a:t>инсайдом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 англ.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т. е. вынесенной на всеобщее обозрение внутренней или закрытой информацией.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559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В компании зафиксирована перегрузка одного из серверов. Цель понять причины и перераспределить нагрузку, чтобы избежать сбоев.</a:t>
            </a:r>
          </a:p>
          <a:p>
            <a:r>
              <a:rPr lang="ru-RU" b="1" noProof="0" dirty="0"/>
              <a:t>Вывод: открытие новой  торговой точки на улице </a:t>
            </a:r>
            <a:r>
              <a:rPr lang="ru-RU" sz="1200" b="1" dirty="0"/>
              <a:t>Чертановская,  20к2  привело к перегрузке 3 сервера</a:t>
            </a:r>
            <a:r>
              <a:rPr lang="ru-RU" b="1" noProof="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 3 и 4 день видна непривычная нагрузка на сервер 3 и снижение интенсивности на сервере 1, есть необходимость перераспределить потоки транзакций между серверами.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В терминах процентного роста первый и второй сервер стабильны или показывает падение, а третий сервер 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показывает процентный рост до 200 с лишим процентов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noProof="0" dirty="0"/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79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68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noProof="0" dirty="0"/>
              <a:t>Цель – понять, как рост доли касс самообслуживания влияет на длительность транзакций. Гипотеза: чем больше касс самообслуживания – тем дольше средняя  транзакция.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График показывает в каком соотношении были произведены транзакции через кассира или самостоятельно по ТТ.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1. На Ракетном бульваре оплата только через кассира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2. На пр-т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Вернатского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88к3, на Ленинском пр-т, 162/1 и на ул. Щорса, 26/3 чаще оплаты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проиходят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через кассу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3. На Симферопольском б-р,22 и на ул. Чертановская, 20к2 оплаты самостоятельно более интересны покупателям.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График доли транзакций которые прошли по кассам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саообслуживания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в динамике. Вывод показывает резкое увеличения спроса на этот вид обслуживания на 3 и 4 день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973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График показывает, что в первый день самая большая продолжительность обработки платежей.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Вывод: Есть причина, нужно разобраться.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Растет доля операций которая проходит по кассам самообслуживания, что приводит к росту  продолжительности обработки платежа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117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579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График показывает: 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ул. Щорс, 26/3 были скачки повышенной продолжительности обработки операций с 3 до 6.00 утра, 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Ленинском пр-т, 162/1 и на пр-т Вернадского, 88к3 повышенная продолжительность операций с 11 до 15.00,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Ракетном б-р, 14к1 с 19.00 увеличение средней продолжительность операций.</a:t>
            </a:r>
          </a:p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Вывод: Неполадки или повышенная активность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Всё понятно, ажиотаж на Ленинском пр-т, 162/1 и на пр-т Вернадского, 88к3, что то скупают, возможно по акции, увеличивая кол-во транзакций  с 11 по 15.00. Повышенная активность на этих адресах  совпадает со всеми предыдущими графиками.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 нет всплеска продаж с 3-5.00, что подтверждает теорию о сбое в оплатах.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Динамика трансакций по ТТ по часам 1 сентября </a:t>
            </a:r>
          </a:p>
          <a:p>
            <a:pPr>
              <a:defRPr/>
            </a:pPr>
            <a:endParaRPr lang="ru-RU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805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показывает: 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резкий скачок продолжительности операций с 3 до 6.00 утра на 1 сервере, что совпадает с скачком по ул. Щорса, 26/3 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 2 - </a:t>
            </a:r>
            <a:r>
              <a:rPr lang="ru-RU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увеличенние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продолжительность операций с 11 до 15.00 на втором сервере, что совпадает с предыдущим графиком 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 3 увеличение с 19.00 средней продолжительности операций и совпадает с увеличением по Ракетный б-р, 14к1</a:t>
            </a:r>
          </a:p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Вывод: Неполадки или повышенная активность</a:t>
            </a:r>
            <a:endParaRPr lang="ru-RU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показывает: 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нестабильную работу платежных систем 1сентября. Все три системы особенно взлетели, увеличивая  продолжительность обработки </a:t>
            </a:r>
            <a:r>
              <a:rPr lang="ru-RU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11-15.00, что наводит на мысль повышенной активности и перегрузки касс. 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Два предыдущих графика это подтверждают. 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С19.00 по </a:t>
            </a:r>
            <a:r>
              <a:rPr 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MasterCard 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стал дольше обрабатывать операции, что это сбой или?</a:t>
            </a:r>
          </a:p>
          <a:p>
            <a:pPr>
              <a:defRPr/>
            </a:pP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 и внимание на </a:t>
            </a:r>
            <a:r>
              <a:rPr lang="ru-RU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перид</a:t>
            </a:r>
            <a:r>
              <a:rPr lang="ru-RU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3 до 5.00 все системы забуксовали и это тоже совпадает с предыдущими графиками. Но какая активность с 3до 5.00 утра???</a:t>
            </a:r>
          </a:p>
          <a:p>
            <a:pPr>
              <a:defRPr/>
            </a:pPr>
            <a:r>
              <a:rPr lang="ru-RU" b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Вывод: Неполадки или повышенная активность</a:t>
            </a:r>
            <a:endParaRPr lang="ru-RU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86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14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Описание кейса: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разработчики прислали вам следующую схему и сообщили, что в звеньях, отмеченных цветами, происходили технические проблемы. Разработчики просят вас уточнить, насколько серьезно эти технические проблемы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зааффектили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среднюю длительность платежа.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775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Franklin Gothic Medium" panose="020B0603020102020204" pitchFamily="34" charset="0"/>
              </a:rPr>
              <a:t>Продолжительность</a:t>
            </a:r>
            <a:r>
              <a:rPr lang="ru-RU" sz="1200" baseline="0" dirty="0">
                <a:latin typeface="Franklin Gothic Medium" panose="020B0603020102020204" pitchFamily="34" charset="0"/>
              </a:rPr>
              <a:t> обработки платежей через 1 сервер за 5-6.09 </a:t>
            </a:r>
            <a:endParaRPr lang="ru-RU" sz="1200" dirty="0"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spc="0" baseline="0" dirty="0">
                <a:solidFill>
                  <a:srgbClr val="595959"/>
                </a:solidFill>
                <a:effectLst/>
                <a:latin typeface="Franklin Gothic Medium" panose="020B0603020102020204" pitchFamily="34" charset="0"/>
              </a:rPr>
              <a:t>Продолжительность обработки платежей за 5-6.09 через 2 сервер и кассира </a:t>
            </a:r>
            <a:endParaRPr lang="ru-RU" sz="120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baseline="0" dirty="0">
                <a:effectLst/>
                <a:latin typeface="Franklin Gothic Medium" panose="020B0603020102020204" pitchFamily="34" charset="0"/>
              </a:rPr>
              <a:t>Продолжительность обработки платежей за 5-6.09 через 1 сервер и картой лояльности</a:t>
            </a:r>
            <a:endParaRPr lang="ru-RU" sz="1200" dirty="0">
              <a:effectLst/>
              <a:latin typeface="Franklin Gothic Medium" panose="020B0603020102020204" pitchFamily="34" charset="0"/>
            </a:endParaRP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620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Описание кейса: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течение всего дня 7 сентября действовала маркетинговая акция, по которой любой предъявитель карты с программой лояльности за покупку свыше 15 000 ₽ получает дополнительный подарок.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Подарок разыгрывается в формате лотереи.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Пятеро случайно выбранных счастливчиков получают подарок ценой 50 000 ₽.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Еще десять получают подарок ценой 10 000 ₽.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остальные подпадающие под условия акции получают подарок ценой 750 ₽.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Подведём итоги проведения акции 7 сентября.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1. Увеличен средний чек на 1484,48руб. на 8,05%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2. Прирост выручки 5069497,14руб.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3. По акции покупатели получили вознаграждения на сумму 2418500руб., чем очень довольны.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4. Прибыль от проведения акции 2650997руб.</a:t>
            </a: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501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нашей ретейл-сети действует программа лояльности. Покупатели получают скидку, если у них есть карта лояльности. Нам нужно оценить, сколько денег мы теряем на этих скидках — и стоит ли пересмотреть правила программы.</a:t>
            </a: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687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нашей ретейл-сети действует программа лояльности. Покупатели получают скидку, если у них есть карта лояльности. Нам нужно оценить, сколько денег мы теряем на этих скидках — и стоит ли пересмотреть правила программы.</a:t>
            </a:r>
          </a:p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63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переделать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303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366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89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273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Графический объект 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ЗАГОЛОВОК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4" name="Текст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5" name="Текст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6" name="Текст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7" name="Текст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Дата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20XX 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4" name="Текст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3" name="Текст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Вступлени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Дата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Дата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8" name="Нижний колонтитул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Объект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27" name="Объект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20" name="Текст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4" name="Текст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5" name="Текст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7" name="Текст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Дата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8" name="Номер слайда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графического элемента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графический элемент SmartArt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4 челове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8 челове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5" name="Рисунок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6" name="Рисунок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7" name="Рисунок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8" name="Рисунок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4" name="Текст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2" name="Текст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9" name="Текст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3" name="Текст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0" name="Текст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4" name="Текст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1" name="Текст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5" name="Текст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содержимо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4" name="Объект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5" name="Объект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Дата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8100" y="4359058"/>
            <a:ext cx="7509712" cy="1373348"/>
          </a:xfrm>
        </p:spPr>
        <p:txBody>
          <a:bodyPr rtlCol="0"/>
          <a:lstStyle/>
          <a:p>
            <a:pPr algn="r">
              <a:lnSpc>
                <a:spcPts val="2320"/>
              </a:lnSpc>
            </a:pPr>
            <a:r>
              <a:rPr lang="ru-RU" dirty="0"/>
              <a:t>Аналитический отчет</a:t>
            </a:r>
            <a:br>
              <a:rPr lang="ru-RU" dirty="0"/>
            </a:br>
            <a:br>
              <a:rPr lang="ru-RU" dirty="0"/>
            </a:br>
            <a:r>
              <a:rPr lang="ru-RU" sz="1800" dirty="0">
                <a:solidFill>
                  <a:schemeClr val="tx1"/>
                </a:solidFill>
              </a:rPr>
              <a:t>ретейловой сети  SkyCrossroads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65" y="5877166"/>
            <a:ext cx="2038447" cy="396660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ru-RU" dirty="0"/>
              <a:t>  Тихомиров Вячеслав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3774"/>
            <a:ext cx="3139440" cy="1325563"/>
          </a:xfrm>
        </p:spPr>
        <p:txBody>
          <a:bodyPr rtlCol="0"/>
          <a:lstStyle/>
          <a:p>
            <a:r>
              <a:rPr lang="ru-RU" dirty="0">
                <a:cs typeface="Arial" panose="020B0604020202020204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9680" y="1164212"/>
            <a:ext cx="1680329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sz="1800" b="1" dirty="0"/>
              <a:t>АНАЛИЗ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5589" y="1517257"/>
            <a:ext cx="5828210" cy="1862855"/>
          </a:xfrm>
        </p:spPr>
        <p:txBody>
          <a:bodyPr rtlCol="0">
            <a:normAutofit/>
          </a:bodyPr>
          <a:lstStyle/>
          <a:p>
            <a:pPr marL="285750" indent="-285750">
              <a:buFontTx/>
              <a:buChar char="-"/>
            </a:pPr>
            <a:r>
              <a:rPr lang="ru-RU" sz="1600" dirty="0"/>
              <a:t>роста количества транзакций 1-4 сентября 2022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нагрузки на сервера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операций по кассовому облуживанию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роста продолжительности операций 1 сентября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сбой в обработке данных и их последствия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9680" y="3462207"/>
            <a:ext cx="5225141" cy="365125"/>
          </a:xfrm>
        </p:spPr>
        <p:txBody>
          <a:bodyPr rtlCol="0">
            <a:normAutofit/>
          </a:bodyPr>
          <a:lstStyle/>
          <a:p>
            <a:pPr rtl="0"/>
            <a:r>
              <a:rPr lang="ru-RU" sz="1800" b="1" dirty="0"/>
              <a:t>ОЦЕНКА СТИМУЛИРОВАНИЕ СБЫТА 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525589" y="3869598"/>
            <a:ext cx="5431971" cy="894688"/>
          </a:xfrm>
        </p:spPr>
        <p:txBody>
          <a:bodyPr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ru-RU" sz="1600" dirty="0"/>
              <a:t>результаты маркетинговой акции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оценка программы лояльности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25589" y="5299003"/>
            <a:ext cx="5431971" cy="720720"/>
          </a:xfrm>
        </p:spPr>
        <p:txBody>
          <a:bodyPr rtlCol="0">
            <a:normAutofit/>
          </a:bodyPr>
          <a:lstStyle/>
          <a:p>
            <a:pPr marL="285750" indent="-285750">
              <a:buFontTx/>
              <a:buChar char="-"/>
            </a:pPr>
            <a:r>
              <a:rPr lang="ru-RU" sz="1600" dirty="0"/>
              <a:t>создание отчетной панели – дашборда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исправление ошибок коллеги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19679" y="4764286"/>
            <a:ext cx="5828209" cy="557950"/>
          </a:xfrm>
        </p:spPr>
        <p:txBody>
          <a:bodyPr rtlCol="0">
            <a:normAutofit/>
          </a:bodyPr>
          <a:lstStyle/>
          <a:p>
            <a:r>
              <a:rPr lang="ru-RU" sz="1800" b="1" dirty="0"/>
              <a:t>ОТЧЕТНОСТЬ</a:t>
            </a:r>
          </a:p>
        </p:txBody>
      </p:sp>
      <p:sp>
        <p:nvSpPr>
          <p:cNvPr id="20" name="Дата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79" y="6356350"/>
            <a:ext cx="1770093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64" y="3049"/>
            <a:ext cx="9576752" cy="1325563"/>
          </a:xfrm>
        </p:spPr>
        <p:txBody>
          <a:bodyPr rtlCol="0">
            <a:normAutofit/>
          </a:bodyPr>
          <a:lstStyle/>
          <a:p>
            <a:pPr algn="l" rtl="0"/>
            <a:r>
              <a:rPr lang="ru-RU" sz="2600" dirty="0"/>
              <a:t>ОБЗОР </a:t>
            </a:r>
            <a:r>
              <a:rPr lang="ru-RU" sz="2000" dirty="0"/>
              <a:t>работы</a:t>
            </a:r>
            <a:r>
              <a:rPr lang="ru-RU" sz="2600" dirty="0"/>
              <a:t> </a:t>
            </a:r>
            <a:r>
              <a:rPr lang="ru-RU" sz="2000" dirty="0"/>
              <a:t>торговых точек 1-4 сентября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3</a:t>
            </a:fld>
            <a:endParaRPr lang="ru-RU" dirty="0"/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81D69DA2-DB10-4159-BC50-5C395B1A77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022026"/>
              </p:ext>
            </p:extLst>
          </p:nvPr>
        </p:nvGraphicFramePr>
        <p:xfrm>
          <a:off x="6190456" y="1684289"/>
          <a:ext cx="4693920" cy="2918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71D1AC94-4C89-489E-9C1D-636E467EC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451435"/>
              </p:ext>
            </p:extLst>
          </p:nvPr>
        </p:nvGraphicFramePr>
        <p:xfrm>
          <a:off x="1213168" y="1684289"/>
          <a:ext cx="5075872" cy="2919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C446CDB-5E84-4649-AF68-ACBE36AC96C3}"/>
              </a:ext>
            </a:extLst>
          </p:cNvPr>
          <p:cNvSpPr/>
          <p:nvPr/>
        </p:nvSpPr>
        <p:spPr>
          <a:xfrm>
            <a:off x="5327968" y="5494280"/>
            <a:ext cx="5329872" cy="220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Появилась новая торговая точка  на ул. Чертановская 20к2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B32E586-E6E3-46FE-BD8B-68BF4B59A201}"/>
              </a:ext>
            </a:extLst>
          </p:cNvPr>
          <p:cNvSpPr/>
          <p:nvPr/>
        </p:nvSpPr>
        <p:spPr>
          <a:xfrm>
            <a:off x="5327968" y="5803756"/>
            <a:ext cx="5329872" cy="2171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Упали продажи на Симферопольском бульваре 22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19B0368-07A4-4F74-B59C-531619FEB9EC}"/>
              </a:ext>
            </a:extLst>
          </p:cNvPr>
          <p:cNvSpPr/>
          <p:nvPr/>
        </p:nvSpPr>
        <p:spPr>
          <a:xfrm>
            <a:off x="1320800" y="5192198"/>
            <a:ext cx="3921760" cy="302357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accent1">
                    <a:lumMod val="25000"/>
                  </a:schemeClr>
                </a:solidFill>
              </a:rPr>
              <a:t>3 и 4 сентября</a:t>
            </a:r>
            <a:endParaRPr lang="ru-RU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DF471-19EA-4484-9BC6-BAB82092F56F}"/>
              </a:ext>
            </a:extLst>
          </p:cNvPr>
          <p:cNvSpPr txBox="1"/>
          <p:nvPr/>
        </p:nvSpPr>
        <p:spPr>
          <a:xfrm>
            <a:off x="1213167" y="1206925"/>
            <a:ext cx="348548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Динамика количества транзакций</a:t>
            </a:r>
          </a:p>
          <a:p>
            <a:r>
              <a:rPr lang="ru-RU" sz="1200" dirty="0"/>
              <a:t>Кол-во</a:t>
            </a:r>
            <a:r>
              <a:rPr lang="ru-RU" sz="14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67219-7CFE-4BB8-8CDA-D869643FEF7B}"/>
              </a:ext>
            </a:extLst>
          </p:cNvPr>
          <p:cNvSpPr txBox="1"/>
          <p:nvPr/>
        </p:nvSpPr>
        <p:spPr>
          <a:xfrm>
            <a:off x="6194584" y="1210050"/>
            <a:ext cx="48828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Доля торговых точек  в общем количестве продаж</a:t>
            </a:r>
          </a:p>
          <a:p>
            <a:r>
              <a:rPr lang="ru-RU" sz="1200" dirty="0"/>
              <a:t>проценты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201960A-981C-423D-90D4-13C47700C057}"/>
              </a:ext>
            </a:extLst>
          </p:cNvPr>
          <p:cNvCxnSpPr>
            <a:cxnSpLocks/>
          </p:cNvCxnSpPr>
          <p:nvPr/>
        </p:nvCxnSpPr>
        <p:spPr>
          <a:xfrm>
            <a:off x="2027766" y="2682240"/>
            <a:ext cx="37723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DF99D8B-FD2C-4D9F-96E6-5752D2C30E90}"/>
              </a:ext>
            </a:extLst>
          </p:cNvPr>
          <p:cNvSpPr/>
          <p:nvPr/>
        </p:nvSpPr>
        <p:spPr>
          <a:xfrm>
            <a:off x="5327968" y="5192198"/>
            <a:ext cx="5329872" cy="220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Общий рост продаж присутствует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4" name="Семиугольник 23">
            <a:extLst>
              <a:ext uri="{FF2B5EF4-FFF2-40B4-BE49-F238E27FC236}">
                <a16:creationId xmlns:a16="http://schemas.microsoft.com/office/drawing/2014/main" id="{69F9831C-0398-490C-B50F-6A1E01D5DE4D}"/>
              </a:ext>
            </a:extLst>
          </p:cNvPr>
          <p:cNvSpPr/>
          <p:nvPr/>
        </p:nvSpPr>
        <p:spPr>
          <a:xfrm>
            <a:off x="1320800" y="4625842"/>
            <a:ext cx="106703" cy="98234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FD0FDC-6ED3-4A25-A122-20499F640CB4}"/>
              </a:ext>
            </a:extLst>
          </p:cNvPr>
          <p:cNvSpPr txBox="1"/>
          <p:nvPr/>
        </p:nvSpPr>
        <p:spPr>
          <a:xfrm>
            <a:off x="1394621" y="4532941"/>
            <a:ext cx="17481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ул. Чертановская,  20к2 </a:t>
            </a:r>
            <a:endParaRPr lang="ru-RU" sz="1050" b="1" dirty="0"/>
          </a:p>
        </p:txBody>
      </p:sp>
      <p:sp>
        <p:nvSpPr>
          <p:cNvPr id="28" name="Семиугольник 27">
            <a:extLst>
              <a:ext uri="{FF2B5EF4-FFF2-40B4-BE49-F238E27FC236}">
                <a16:creationId xmlns:a16="http://schemas.microsoft.com/office/drawing/2014/main" id="{9AA2E51A-6654-40F9-AC16-B9EF42E4141C}"/>
              </a:ext>
            </a:extLst>
          </p:cNvPr>
          <p:cNvSpPr/>
          <p:nvPr/>
        </p:nvSpPr>
        <p:spPr>
          <a:xfrm>
            <a:off x="2955565" y="4625842"/>
            <a:ext cx="106703" cy="98234"/>
          </a:xfrm>
          <a:prstGeom prst="hep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75E09-F771-4717-804C-0D022B7ADFBC}"/>
              </a:ext>
            </a:extLst>
          </p:cNvPr>
          <p:cNvSpPr txBox="1"/>
          <p:nvPr/>
        </p:nvSpPr>
        <p:spPr>
          <a:xfrm>
            <a:off x="2996536" y="4537637"/>
            <a:ext cx="19705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Симферопольский б-р, 22 </a:t>
            </a:r>
            <a:endParaRPr lang="ru-RU" sz="1050" b="1" dirty="0"/>
          </a:p>
        </p:txBody>
      </p:sp>
      <p:sp>
        <p:nvSpPr>
          <p:cNvPr id="30" name="Семиугольник 29">
            <a:extLst>
              <a:ext uri="{FF2B5EF4-FFF2-40B4-BE49-F238E27FC236}">
                <a16:creationId xmlns:a16="http://schemas.microsoft.com/office/drawing/2014/main" id="{321CA25D-388C-4E2D-BA63-A8AFE58F3418}"/>
              </a:ext>
            </a:extLst>
          </p:cNvPr>
          <p:cNvSpPr/>
          <p:nvPr/>
        </p:nvSpPr>
        <p:spPr>
          <a:xfrm>
            <a:off x="4698655" y="4622324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40466-84F3-49E1-AAC2-30DF7450ADF9}"/>
              </a:ext>
            </a:extLst>
          </p:cNvPr>
          <p:cNvSpPr txBox="1"/>
          <p:nvPr/>
        </p:nvSpPr>
        <p:spPr>
          <a:xfrm>
            <a:off x="4779827" y="4540636"/>
            <a:ext cx="1550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- Ракетный б-р, 14к1</a:t>
            </a:r>
            <a:endParaRPr lang="ru-RU" sz="1000" b="1" dirty="0"/>
          </a:p>
        </p:txBody>
      </p:sp>
      <p:sp>
        <p:nvSpPr>
          <p:cNvPr id="32" name="Семиугольник 31">
            <a:extLst>
              <a:ext uri="{FF2B5EF4-FFF2-40B4-BE49-F238E27FC236}">
                <a16:creationId xmlns:a16="http://schemas.microsoft.com/office/drawing/2014/main" id="{44020713-F8C7-4986-A4B9-51946F70C067}"/>
              </a:ext>
            </a:extLst>
          </p:cNvPr>
          <p:cNvSpPr/>
          <p:nvPr/>
        </p:nvSpPr>
        <p:spPr>
          <a:xfrm>
            <a:off x="6042648" y="4622324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4D1271-0439-4D2F-8995-0927FA58E36D}"/>
              </a:ext>
            </a:extLst>
          </p:cNvPr>
          <p:cNvSpPr txBox="1"/>
          <p:nvPr/>
        </p:nvSpPr>
        <p:spPr>
          <a:xfrm>
            <a:off x="6109980" y="4532941"/>
            <a:ext cx="1787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пр-т Вернадского, 88к3 </a:t>
            </a:r>
            <a:endParaRPr lang="ru-RU" sz="1050" b="1" dirty="0"/>
          </a:p>
        </p:txBody>
      </p:sp>
      <p:sp>
        <p:nvSpPr>
          <p:cNvPr id="34" name="Семиугольник 33">
            <a:extLst>
              <a:ext uri="{FF2B5EF4-FFF2-40B4-BE49-F238E27FC236}">
                <a16:creationId xmlns:a16="http://schemas.microsoft.com/office/drawing/2014/main" id="{221B66D5-6D16-460C-8D89-0D0A860C9EC6}"/>
              </a:ext>
            </a:extLst>
          </p:cNvPr>
          <p:cNvSpPr/>
          <p:nvPr/>
        </p:nvSpPr>
        <p:spPr>
          <a:xfrm>
            <a:off x="7663349" y="4617938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B37FD3-B204-4051-AB74-397EC34D6825}"/>
              </a:ext>
            </a:extLst>
          </p:cNvPr>
          <p:cNvSpPr txBox="1"/>
          <p:nvPr/>
        </p:nvSpPr>
        <p:spPr>
          <a:xfrm>
            <a:off x="7699669" y="4532941"/>
            <a:ext cx="1787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Ленинский пр-т, 162/1 </a:t>
            </a:r>
            <a:endParaRPr lang="ru-RU" sz="1050" b="1" dirty="0"/>
          </a:p>
        </p:txBody>
      </p:sp>
      <p:sp>
        <p:nvSpPr>
          <p:cNvPr id="36" name="Семиугольник 35">
            <a:extLst>
              <a:ext uri="{FF2B5EF4-FFF2-40B4-BE49-F238E27FC236}">
                <a16:creationId xmlns:a16="http://schemas.microsoft.com/office/drawing/2014/main" id="{C348D563-026E-4D83-8461-5EA6006AAD5E}"/>
              </a:ext>
            </a:extLst>
          </p:cNvPr>
          <p:cNvSpPr/>
          <p:nvPr/>
        </p:nvSpPr>
        <p:spPr>
          <a:xfrm>
            <a:off x="9243895" y="4617938"/>
            <a:ext cx="106703" cy="98234"/>
          </a:xfrm>
          <a:prstGeom prst="heptagon">
            <a:avLst/>
          </a:prstGeom>
          <a:solidFill>
            <a:srgbClr val="92D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8CDA04-0287-4548-AAC4-A833D1364DEC}"/>
              </a:ext>
            </a:extLst>
          </p:cNvPr>
          <p:cNvSpPr txBox="1"/>
          <p:nvPr/>
        </p:nvSpPr>
        <p:spPr>
          <a:xfrm>
            <a:off x="9308220" y="4533624"/>
            <a:ext cx="12657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ул. Щорса, 26/3 </a:t>
            </a:r>
            <a:endParaRPr lang="ru-RU" sz="1050" b="1" dirty="0"/>
          </a:p>
        </p:txBody>
      </p:sp>
      <p:sp>
        <p:nvSpPr>
          <p:cNvPr id="38" name="Правая фигурная скобка 37">
            <a:extLst>
              <a:ext uri="{FF2B5EF4-FFF2-40B4-BE49-F238E27FC236}">
                <a16:creationId xmlns:a16="http://schemas.microsoft.com/office/drawing/2014/main" id="{88D01C94-ABD2-497B-AE90-858A869A1E12}"/>
              </a:ext>
            </a:extLst>
          </p:cNvPr>
          <p:cNvSpPr/>
          <p:nvPr/>
        </p:nvSpPr>
        <p:spPr>
          <a:xfrm>
            <a:off x="9414933" y="2130582"/>
            <a:ext cx="72347" cy="503976"/>
          </a:xfrm>
          <a:prstGeom prst="rightBrac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771A08BE-21A9-421E-8996-C4546EB8F1EA}"/>
              </a:ext>
            </a:extLst>
          </p:cNvPr>
          <p:cNvSpPr txBox="1"/>
          <p:nvPr/>
        </p:nvSpPr>
        <p:spPr>
          <a:xfrm>
            <a:off x="1213167" y="4324720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2593C2EC-8E87-460B-A0C5-7452F061E463}"/>
              </a:ext>
            </a:extLst>
          </p:cNvPr>
          <p:cNvSpPr txBox="1"/>
          <p:nvPr/>
        </p:nvSpPr>
        <p:spPr>
          <a:xfrm>
            <a:off x="6134265" y="4313705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</p:spTree>
    <p:extLst>
      <p:ext uri="{BB962C8B-B14F-4D97-AF65-F5344CB8AC3E}">
        <p14:creationId xmlns:p14="http://schemas.microsoft.com/office/powerpoint/2010/main" val="4403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95" y="5684"/>
            <a:ext cx="9218280" cy="1282964"/>
          </a:xfrm>
        </p:spPr>
        <p:txBody>
          <a:bodyPr rtlCol="0">
            <a:normAutofit/>
          </a:bodyPr>
          <a:lstStyle/>
          <a:p>
            <a:r>
              <a:rPr lang="ru-RU" sz="2600" dirty="0"/>
              <a:t>ОБЗОР </a:t>
            </a:r>
            <a:r>
              <a:rPr lang="ru-RU" sz="2000" dirty="0"/>
              <a:t>нагрузки</a:t>
            </a:r>
            <a:r>
              <a:rPr lang="ru-RU" sz="2600" dirty="0"/>
              <a:t> </a:t>
            </a:r>
            <a:r>
              <a:rPr lang="ru-RU" sz="2000" dirty="0"/>
              <a:t>серверов 1-4 сентября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4</a:t>
            </a:fld>
            <a:endParaRPr lang="ru-RU" dirty="0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C6D8722F-93FE-4C0F-AC89-A8F4A11FE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589609"/>
              </p:ext>
            </p:extLst>
          </p:nvPr>
        </p:nvGraphicFramePr>
        <p:xfrm>
          <a:off x="1238789" y="1398786"/>
          <a:ext cx="5019675" cy="3175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7BC302C9-8049-4995-8FD7-77863A1D2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063576"/>
              </p:ext>
            </p:extLst>
          </p:nvPr>
        </p:nvGraphicFramePr>
        <p:xfrm>
          <a:off x="5643562" y="1422131"/>
          <a:ext cx="5019675" cy="3175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FB8B72A-F5D5-410F-A6D4-3A797688364A}"/>
              </a:ext>
            </a:extLst>
          </p:cNvPr>
          <p:cNvSpPr/>
          <p:nvPr/>
        </p:nvSpPr>
        <p:spPr>
          <a:xfrm>
            <a:off x="6395587" y="5368804"/>
            <a:ext cx="4902614" cy="3023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Коэффициент прироста 3 сервера на  112% 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8623841-A611-4667-A6CB-91A40C4FB5D6}"/>
              </a:ext>
            </a:extLst>
          </p:cNvPr>
          <p:cNvSpPr/>
          <p:nvPr/>
        </p:nvSpPr>
        <p:spPr>
          <a:xfrm>
            <a:off x="1297320" y="5368804"/>
            <a:ext cx="4902614" cy="3023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Взлёт количества транзакций через 3 сервер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A82D5-263D-44EC-986A-18B80309CEB3}"/>
              </a:ext>
            </a:extLst>
          </p:cNvPr>
          <p:cNvSpPr txBox="1"/>
          <p:nvPr/>
        </p:nvSpPr>
        <p:spPr>
          <a:xfrm>
            <a:off x="5862815" y="1291665"/>
            <a:ext cx="37917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Коэффициент роста нагрузки на сервера</a:t>
            </a:r>
          </a:p>
          <a:p>
            <a:r>
              <a:rPr lang="ru-RU" sz="1200" dirty="0"/>
              <a:t>проценты</a:t>
            </a:r>
          </a:p>
          <a:p>
            <a:endParaRPr lang="ru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9230D-163F-486D-A0CB-D235112F6F6D}"/>
              </a:ext>
            </a:extLst>
          </p:cNvPr>
          <p:cNvSpPr txBox="1"/>
          <p:nvPr/>
        </p:nvSpPr>
        <p:spPr>
          <a:xfrm>
            <a:off x="1438588" y="1299575"/>
            <a:ext cx="37917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Динамика  трансакций по серверам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Кол-во</a:t>
            </a:r>
          </a:p>
          <a:p>
            <a:endParaRPr lang="ru-RU" sz="16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5841AF9-4B47-446B-975D-E00655ECEE60}"/>
              </a:ext>
            </a:extLst>
          </p:cNvPr>
          <p:cNvSpPr/>
          <p:nvPr/>
        </p:nvSpPr>
        <p:spPr>
          <a:xfrm>
            <a:off x="5368836" y="4966630"/>
            <a:ext cx="1779255" cy="30211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</a:rPr>
              <a:t>3  сентября</a:t>
            </a:r>
            <a:endParaRPr lang="ru-RU" dirty="0"/>
          </a:p>
        </p:txBody>
      </p:sp>
      <p:sp>
        <p:nvSpPr>
          <p:cNvPr id="19" name="Семиугольник 18">
            <a:extLst>
              <a:ext uri="{FF2B5EF4-FFF2-40B4-BE49-F238E27FC236}">
                <a16:creationId xmlns:a16="http://schemas.microsoft.com/office/drawing/2014/main" id="{18036BA4-1B33-4934-8376-B062A7C542A7}"/>
              </a:ext>
            </a:extLst>
          </p:cNvPr>
          <p:cNvSpPr/>
          <p:nvPr/>
        </p:nvSpPr>
        <p:spPr>
          <a:xfrm>
            <a:off x="5985269" y="4418589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емиугольник 19">
            <a:extLst>
              <a:ext uri="{FF2B5EF4-FFF2-40B4-BE49-F238E27FC236}">
                <a16:creationId xmlns:a16="http://schemas.microsoft.com/office/drawing/2014/main" id="{9B9514CF-F9A2-470E-91AE-33BE37EF8E17}"/>
              </a:ext>
            </a:extLst>
          </p:cNvPr>
          <p:cNvSpPr/>
          <p:nvPr/>
        </p:nvSpPr>
        <p:spPr>
          <a:xfrm>
            <a:off x="4976469" y="4418589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Семиугольник 20">
            <a:extLst>
              <a:ext uri="{FF2B5EF4-FFF2-40B4-BE49-F238E27FC236}">
                <a16:creationId xmlns:a16="http://schemas.microsoft.com/office/drawing/2014/main" id="{B0E67A61-BEDD-4CF5-AC14-61714A1BD090}"/>
              </a:ext>
            </a:extLst>
          </p:cNvPr>
          <p:cNvSpPr/>
          <p:nvPr/>
        </p:nvSpPr>
        <p:spPr>
          <a:xfrm>
            <a:off x="6959991" y="4418589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049E2B-2FA3-4896-831D-19369FAC05E2}"/>
              </a:ext>
            </a:extLst>
          </p:cNvPr>
          <p:cNvSpPr txBox="1"/>
          <p:nvPr/>
        </p:nvSpPr>
        <p:spPr>
          <a:xfrm>
            <a:off x="5083172" y="4320750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- 1 сервер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6011B8-DD3F-4359-9D08-08598887A78F}"/>
              </a:ext>
            </a:extLst>
          </p:cNvPr>
          <p:cNvSpPr txBox="1"/>
          <p:nvPr/>
        </p:nvSpPr>
        <p:spPr>
          <a:xfrm>
            <a:off x="6111245" y="4312239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- 2 сервер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373A9C-1CBB-475E-B885-4CE940CBB307}"/>
              </a:ext>
            </a:extLst>
          </p:cNvPr>
          <p:cNvSpPr txBox="1"/>
          <p:nvPr/>
        </p:nvSpPr>
        <p:spPr>
          <a:xfrm>
            <a:off x="7066694" y="4320505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- 3 сервер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59BF453-B9A0-4096-AADC-D3BF1CCC04EB}"/>
              </a:ext>
            </a:extLst>
          </p:cNvPr>
          <p:cNvSpPr/>
          <p:nvPr/>
        </p:nvSpPr>
        <p:spPr>
          <a:xfrm>
            <a:off x="1297320" y="5759346"/>
            <a:ext cx="4902614" cy="3023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Небольшое падение нагрузки через 1 сервер 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FCA415D-090D-4BD3-BBED-480847B12402}"/>
              </a:ext>
            </a:extLst>
          </p:cNvPr>
          <p:cNvSpPr/>
          <p:nvPr/>
        </p:nvSpPr>
        <p:spPr>
          <a:xfrm>
            <a:off x="6395587" y="5762392"/>
            <a:ext cx="4902614" cy="3023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Падение роста 1 сервера до 66% </a:t>
            </a:r>
          </a:p>
        </p:txBody>
      </p:sp>
    </p:spTree>
    <p:extLst>
      <p:ext uri="{BB962C8B-B14F-4D97-AF65-F5344CB8AC3E}">
        <p14:creationId xmlns:p14="http://schemas.microsoft.com/office/powerpoint/2010/main" val="156678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595" y="26302"/>
            <a:ext cx="9727933" cy="1325563"/>
          </a:xfrm>
        </p:spPr>
        <p:txBody>
          <a:bodyPr rtlCol="0"/>
          <a:lstStyle/>
          <a:p>
            <a:r>
              <a:rPr lang="ru-RU" sz="2600" dirty="0"/>
              <a:t>ОБЗОР</a:t>
            </a:r>
            <a:r>
              <a:rPr lang="ru-RU" dirty="0"/>
              <a:t> </a:t>
            </a:r>
            <a:r>
              <a:rPr lang="ru-RU" sz="2000" dirty="0"/>
              <a:t>нагрузки серверов после перераспределения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5</a:t>
            </a:fld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55F308D-2ACB-4332-82D0-D1C2F2C501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8513761"/>
              </p:ext>
            </p:extLst>
          </p:nvPr>
        </p:nvGraphicFramePr>
        <p:xfrm>
          <a:off x="1507165" y="1867189"/>
          <a:ext cx="4572001" cy="2481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E90C5593-CB01-4188-9A27-ED2E4691E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6741547"/>
              </p:ext>
            </p:extLst>
          </p:nvPr>
        </p:nvGraphicFramePr>
        <p:xfrm>
          <a:off x="6112835" y="1870861"/>
          <a:ext cx="4792529" cy="2478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24">
            <a:extLst>
              <a:ext uri="{FF2B5EF4-FFF2-40B4-BE49-F238E27FC236}">
                <a16:creationId xmlns:a16="http://schemas.microsoft.com/office/drawing/2014/main" id="{5651E28D-128F-4EB5-8B8F-8F923E6BB26A}"/>
              </a:ext>
            </a:extLst>
          </p:cNvPr>
          <p:cNvSpPr txBox="1"/>
          <p:nvPr/>
        </p:nvSpPr>
        <p:spPr>
          <a:xfrm>
            <a:off x="1473496" y="4061581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5651E28D-128F-4EB5-8B8F-8F923E6BB26A}"/>
              </a:ext>
            </a:extLst>
          </p:cNvPr>
          <p:cNvSpPr txBox="1"/>
          <p:nvPr/>
        </p:nvSpPr>
        <p:spPr>
          <a:xfrm>
            <a:off x="6175606" y="4061581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13" name="Семиугольник 12">
            <a:extLst>
              <a:ext uri="{FF2B5EF4-FFF2-40B4-BE49-F238E27FC236}">
                <a16:creationId xmlns:a16="http://schemas.microsoft.com/office/drawing/2014/main" id="{D9FF4C18-6E79-4D2B-BD2E-12F597FA91F7}"/>
              </a:ext>
            </a:extLst>
          </p:cNvPr>
          <p:cNvSpPr/>
          <p:nvPr/>
        </p:nvSpPr>
        <p:spPr>
          <a:xfrm>
            <a:off x="6447399" y="4349055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емиугольник 13">
            <a:extLst>
              <a:ext uri="{FF2B5EF4-FFF2-40B4-BE49-F238E27FC236}">
                <a16:creationId xmlns:a16="http://schemas.microsoft.com/office/drawing/2014/main" id="{59A11167-6A59-4F30-9D8E-DC9FFEDB9A5C}"/>
              </a:ext>
            </a:extLst>
          </p:cNvPr>
          <p:cNvSpPr/>
          <p:nvPr/>
        </p:nvSpPr>
        <p:spPr>
          <a:xfrm>
            <a:off x="5420633" y="4349055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емиугольник 14">
            <a:extLst>
              <a:ext uri="{FF2B5EF4-FFF2-40B4-BE49-F238E27FC236}">
                <a16:creationId xmlns:a16="http://schemas.microsoft.com/office/drawing/2014/main" id="{C00C3F19-A704-4836-99F9-23B66139EFD3}"/>
              </a:ext>
            </a:extLst>
          </p:cNvPr>
          <p:cNvSpPr/>
          <p:nvPr/>
        </p:nvSpPr>
        <p:spPr>
          <a:xfrm>
            <a:off x="7516193" y="4344674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059F76-DF9A-4609-A721-DC9E39C8B982}"/>
              </a:ext>
            </a:extLst>
          </p:cNvPr>
          <p:cNvSpPr txBox="1"/>
          <p:nvPr/>
        </p:nvSpPr>
        <p:spPr>
          <a:xfrm>
            <a:off x="5541442" y="4261709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- 1 сервер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F71F75-49FE-47E7-B141-4F27FBAF6778}"/>
              </a:ext>
            </a:extLst>
          </p:cNvPr>
          <p:cNvSpPr txBox="1"/>
          <p:nvPr/>
        </p:nvSpPr>
        <p:spPr>
          <a:xfrm>
            <a:off x="6633779" y="4261709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- 2 сервер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5E6609-E1FB-445A-B878-C564CC5A5605}"/>
              </a:ext>
            </a:extLst>
          </p:cNvPr>
          <p:cNvSpPr txBox="1"/>
          <p:nvPr/>
        </p:nvSpPr>
        <p:spPr>
          <a:xfrm>
            <a:off x="7678855" y="4261709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- 3 сервер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E8A254F-2A0F-441F-B540-1F0F332D64E7}"/>
              </a:ext>
            </a:extLst>
          </p:cNvPr>
          <p:cNvSpPr/>
          <p:nvPr/>
        </p:nvSpPr>
        <p:spPr>
          <a:xfrm>
            <a:off x="5744151" y="4957934"/>
            <a:ext cx="1779255" cy="302357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accent1">
                    <a:lumMod val="25000"/>
                  </a:schemeClr>
                </a:solidFill>
              </a:rPr>
              <a:t>3  сентября</a:t>
            </a:r>
            <a:endParaRPr lang="ru-RU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0405E0BC-222D-415F-AB44-54F7AE52432F}"/>
              </a:ext>
            </a:extLst>
          </p:cNvPr>
          <p:cNvSpPr/>
          <p:nvPr/>
        </p:nvSpPr>
        <p:spPr>
          <a:xfrm>
            <a:off x="6896911" y="5324875"/>
            <a:ext cx="4456889" cy="305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Коэффициент прироста 1 сервера на 36%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99DD2B-C80B-4DE6-B28C-14E0D6F1B619}"/>
              </a:ext>
            </a:extLst>
          </p:cNvPr>
          <p:cNvSpPr txBox="1"/>
          <p:nvPr/>
        </p:nvSpPr>
        <p:spPr>
          <a:xfrm>
            <a:off x="6096000" y="1370018"/>
            <a:ext cx="37917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Коэффициент роста нагрузки на сервера</a:t>
            </a:r>
          </a:p>
          <a:p>
            <a:r>
              <a:rPr lang="ru-RU" sz="1200" dirty="0"/>
              <a:t>проценты</a:t>
            </a:r>
          </a:p>
          <a:p>
            <a:endParaRPr lang="ru-RU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1949C-E461-4504-96FF-C0645BE26282}"/>
              </a:ext>
            </a:extLst>
          </p:cNvPr>
          <p:cNvSpPr txBox="1"/>
          <p:nvPr/>
        </p:nvSpPr>
        <p:spPr>
          <a:xfrm>
            <a:off x="1491629" y="1374550"/>
            <a:ext cx="37917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Динамика  трансакций по серверам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Кол-во</a:t>
            </a:r>
          </a:p>
          <a:p>
            <a:endParaRPr lang="ru-RU" sz="1600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F9B00CFF-244A-4CBD-A45E-E15BB4C0D318}"/>
              </a:ext>
            </a:extLst>
          </p:cNvPr>
          <p:cNvSpPr/>
          <p:nvPr/>
        </p:nvSpPr>
        <p:spPr>
          <a:xfrm>
            <a:off x="6896911" y="5704700"/>
            <a:ext cx="4456890" cy="3023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Коэффициент прироста 3 сервера на 18% 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0236A81-0998-4C9D-ADDB-0EF3DC49C7FE}"/>
              </a:ext>
            </a:extLst>
          </p:cNvPr>
          <p:cNvSpPr/>
          <p:nvPr/>
        </p:nvSpPr>
        <p:spPr>
          <a:xfrm>
            <a:off x="1328841" y="5328626"/>
            <a:ext cx="5171909" cy="3088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т. точку на Ракетном б-ре 14/1 подключили на 1 сервер 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C151649A-94CE-4EE1-905B-E80EF0638D7C}"/>
              </a:ext>
            </a:extLst>
          </p:cNvPr>
          <p:cNvSpPr/>
          <p:nvPr/>
        </p:nvSpPr>
        <p:spPr>
          <a:xfrm>
            <a:off x="1328841" y="5705812"/>
            <a:ext cx="4456889" cy="305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нагрузка на 3 сервер уменьшилась </a:t>
            </a:r>
          </a:p>
        </p:txBody>
      </p:sp>
    </p:spTree>
    <p:extLst>
      <p:ext uri="{BB962C8B-B14F-4D97-AF65-F5344CB8AC3E}">
        <p14:creationId xmlns:p14="http://schemas.microsoft.com/office/powerpoint/2010/main" val="8343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406" y="22792"/>
            <a:ext cx="10051188" cy="1325563"/>
          </a:xfrm>
        </p:spPr>
        <p:txBody>
          <a:bodyPr rtlCol="0">
            <a:normAutofit/>
          </a:bodyPr>
          <a:lstStyle/>
          <a:p>
            <a:r>
              <a:rPr lang="ru-RU" sz="2600" dirty="0"/>
              <a:t>ОБЗОР </a:t>
            </a:r>
            <a:r>
              <a:rPr lang="ru-RU" sz="2000" dirty="0"/>
              <a:t>работы</a:t>
            </a:r>
            <a:r>
              <a:rPr lang="ru-RU" sz="2600" dirty="0"/>
              <a:t> </a:t>
            </a:r>
            <a:r>
              <a:rPr lang="ru-RU" sz="2000" dirty="0"/>
              <a:t>кассового обслуживания 1-4 сентября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6</a:t>
            </a:fld>
            <a:endParaRPr lang="ru-RU" dirty="0"/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B43B064C-4C06-48D4-95B4-46C87567CD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888806"/>
              </p:ext>
            </p:extLst>
          </p:nvPr>
        </p:nvGraphicFramePr>
        <p:xfrm>
          <a:off x="4942148" y="1739732"/>
          <a:ext cx="5515221" cy="3154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5CBADEA-F9E3-4F57-821E-6B8A2C8ED4CE}"/>
              </a:ext>
            </a:extLst>
          </p:cNvPr>
          <p:cNvSpPr/>
          <p:nvPr/>
        </p:nvSpPr>
        <p:spPr>
          <a:xfrm>
            <a:off x="1333355" y="5736519"/>
            <a:ext cx="4204926" cy="23804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Кассы самообслуживания  в приоритете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F052A64-5212-405D-933A-F3BFC5341CA4}"/>
              </a:ext>
            </a:extLst>
          </p:cNvPr>
          <p:cNvSpPr/>
          <p:nvPr/>
        </p:nvSpPr>
        <p:spPr>
          <a:xfrm>
            <a:off x="1333355" y="5087896"/>
            <a:ext cx="3187295" cy="23670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Предпочтительнее  через кассира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D4C3AC9-8314-4C2C-A9CA-FB7F43914556}"/>
              </a:ext>
            </a:extLst>
          </p:cNvPr>
          <p:cNvSpPr/>
          <p:nvPr/>
        </p:nvSpPr>
        <p:spPr>
          <a:xfrm>
            <a:off x="7164246" y="5087895"/>
            <a:ext cx="2057575" cy="2380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Пр-т Вернадского 88к3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8E6E26C-8138-4614-BF35-C72E944803CD}"/>
              </a:ext>
            </a:extLst>
          </p:cNvPr>
          <p:cNvSpPr/>
          <p:nvPr/>
        </p:nvSpPr>
        <p:spPr>
          <a:xfrm>
            <a:off x="4038600" y="5409934"/>
            <a:ext cx="2317036" cy="2381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Ракетный бульвар 14к1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F989E8B-2E9B-4D90-91F4-3E1172D9474C}"/>
              </a:ext>
            </a:extLst>
          </p:cNvPr>
          <p:cNvSpPr/>
          <p:nvPr/>
        </p:nvSpPr>
        <p:spPr>
          <a:xfrm>
            <a:off x="4686050" y="5087895"/>
            <a:ext cx="2312796" cy="23670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Ленинский проспект 162/1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71488E8-061D-49D0-937B-1A1841B2465C}"/>
              </a:ext>
            </a:extLst>
          </p:cNvPr>
          <p:cNvSpPr/>
          <p:nvPr/>
        </p:nvSpPr>
        <p:spPr>
          <a:xfrm>
            <a:off x="8370868" y="5736520"/>
            <a:ext cx="2487777" cy="2380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Симферопольский бульвар 22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B1EA5BA-9B53-4955-85CE-C5B8919DC2A4}"/>
              </a:ext>
            </a:extLst>
          </p:cNvPr>
          <p:cNvSpPr/>
          <p:nvPr/>
        </p:nvSpPr>
        <p:spPr>
          <a:xfrm>
            <a:off x="5842448" y="5736519"/>
            <a:ext cx="2224253" cy="2420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Ул. Чертановская  20к2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CC8C63E-ECF5-465E-A964-724C11FAEA54}"/>
              </a:ext>
            </a:extLst>
          </p:cNvPr>
          <p:cNvSpPr/>
          <p:nvPr/>
        </p:nvSpPr>
        <p:spPr>
          <a:xfrm>
            <a:off x="9491642" y="5087895"/>
            <a:ext cx="1367003" cy="23670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ул. Щорса 26/3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F255208-C02A-4AAC-BABC-59F84E036817}"/>
              </a:ext>
            </a:extLst>
          </p:cNvPr>
          <p:cNvSpPr/>
          <p:nvPr/>
        </p:nvSpPr>
        <p:spPr>
          <a:xfrm>
            <a:off x="1333355" y="5413001"/>
            <a:ext cx="2487776" cy="238116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Только обычные кассы</a:t>
            </a:r>
            <a:endParaRPr lang="ru-RU" sz="16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992C67-D949-48C6-A134-8D6B62C9FA87}"/>
              </a:ext>
            </a:extLst>
          </p:cNvPr>
          <p:cNvSpPr txBox="1"/>
          <p:nvPr/>
        </p:nvSpPr>
        <p:spPr>
          <a:xfrm>
            <a:off x="5311303" y="1294322"/>
            <a:ext cx="497731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Соотношение трансакции через кассира и самостоятельно</a:t>
            </a:r>
          </a:p>
          <a:p>
            <a:pPr algn="ctr"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ru-RU" sz="1600" dirty="0"/>
          </a:p>
          <a:p>
            <a:endParaRPr lang="ru-RU" sz="16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54CB9320-5DAF-4953-BC49-E77E04DC2C3D}"/>
              </a:ext>
            </a:extLst>
          </p:cNvPr>
          <p:cNvSpPr/>
          <p:nvPr/>
        </p:nvSpPr>
        <p:spPr>
          <a:xfrm>
            <a:off x="1333355" y="4712867"/>
            <a:ext cx="2317036" cy="2367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Выбор клиентов</a:t>
            </a:r>
          </a:p>
        </p:txBody>
      </p:sp>
      <p:sp>
        <p:nvSpPr>
          <p:cNvPr id="32" name="Семиугольник 31">
            <a:extLst>
              <a:ext uri="{FF2B5EF4-FFF2-40B4-BE49-F238E27FC236}">
                <a16:creationId xmlns:a16="http://schemas.microsoft.com/office/drawing/2014/main" id="{7CF1A7F4-1C31-4D5C-A9B9-0763EAA2C0D2}"/>
              </a:ext>
            </a:extLst>
          </p:cNvPr>
          <p:cNvSpPr/>
          <p:nvPr/>
        </p:nvSpPr>
        <p:spPr>
          <a:xfrm>
            <a:off x="6402149" y="1709821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Семиугольник 32">
            <a:extLst>
              <a:ext uri="{FF2B5EF4-FFF2-40B4-BE49-F238E27FC236}">
                <a16:creationId xmlns:a16="http://schemas.microsoft.com/office/drawing/2014/main" id="{121AAEEE-DEF8-4A96-B85B-52333912DF22}"/>
              </a:ext>
            </a:extLst>
          </p:cNvPr>
          <p:cNvSpPr/>
          <p:nvPr/>
        </p:nvSpPr>
        <p:spPr>
          <a:xfrm>
            <a:off x="8046697" y="1709821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A2A736-6D94-4F0B-8869-71887873D0E9}"/>
              </a:ext>
            </a:extLst>
          </p:cNvPr>
          <p:cNvSpPr txBox="1"/>
          <p:nvPr/>
        </p:nvSpPr>
        <p:spPr>
          <a:xfrm>
            <a:off x="6705663" y="1631980"/>
            <a:ext cx="12603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обычные кассы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741569-BF24-47C8-9B05-9B458547C7EF}"/>
              </a:ext>
            </a:extLst>
          </p:cNvPr>
          <p:cNvSpPr txBox="1"/>
          <p:nvPr/>
        </p:nvSpPr>
        <p:spPr>
          <a:xfrm>
            <a:off x="8216224" y="1631980"/>
            <a:ext cx="20095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кассы  самообслуживания </a:t>
            </a:r>
          </a:p>
        </p:txBody>
      </p:sp>
    </p:spTree>
    <p:extLst>
      <p:ext uri="{BB962C8B-B14F-4D97-AF65-F5344CB8AC3E}">
        <p14:creationId xmlns:p14="http://schemas.microsoft.com/office/powerpoint/2010/main" val="1418454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 dirty="0"/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76EDD5C0-2B07-4AAB-8D9C-5F0D950701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766436"/>
              </p:ext>
            </p:extLst>
          </p:nvPr>
        </p:nvGraphicFramePr>
        <p:xfrm>
          <a:off x="5838824" y="1623350"/>
          <a:ext cx="5241063" cy="3360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F69A96A6-54E6-49E4-BF76-0181004589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5239675"/>
              </p:ext>
            </p:extLst>
          </p:nvPr>
        </p:nvGraphicFramePr>
        <p:xfrm>
          <a:off x="1028700" y="2449398"/>
          <a:ext cx="4619625" cy="2465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F46D6C3-DADC-4BDA-A7DA-5EFD2A9F58D4}"/>
              </a:ext>
            </a:extLst>
          </p:cNvPr>
          <p:cNvSpPr/>
          <p:nvPr/>
        </p:nvSpPr>
        <p:spPr>
          <a:xfrm>
            <a:off x="1204911" y="5257800"/>
            <a:ext cx="4267201" cy="894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Выросла доля транзакций прошедших через кассы самообслуживания  </a:t>
            </a:r>
          </a:p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3 и 4 сентября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D1C415-C57B-4CC4-BCA8-FB0AD2C2CCD6}"/>
              </a:ext>
            </a:extLst>
          </p:cNvPr>
          <p:cNvSpPr txBox="1"/>
          <p:nvPr/>
        </p:nvSpPr>
        <p:spPr>
          <a:xfrm>
            <a:off x="1112113" y="2055107"/>
            <a:ext cx="3791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600" dirty="0"/>
              <a:t>Доля трансакций в динамике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/>
              <a:t>в процентах</a:t>
            </a:r>
          </a:p>
          <a:p>
            <a:endParaRPr lang="ru-RU" sz="1600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070406" y="26311"/>
            <a:ext cx="100511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sz="2600" dirty="0"/>
              <a:t>ОБЗОР </a:t>
            </a:r>
            <a:r>
              <a:rPr lang="ru-RU" sz="2000" dirty="0"/>
              <a:t>работы</a:t>
            </a:r>
            <a:r>
              <a:rPr lang="ru-RU" sz="2600" dirty="0"/>
              <a:t> </a:t>
            </a:r>
            <a:r>
              <a:rPr lang="ru-RU" sz="2000" dirty="0"/>
              <a:t>кассового обслуживания 1-4 сентября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FD319B5-236F-4CC6-984E-94D63277C63B}"/>
              </a:ext>
            </a:extLst>
          </p:cNvPr>
          <p:cNvSpPr/>
          <p:nvPr/>
        </p:nvSpPr>
        <p:spPr>
          <a:xfrm>
            <a:off x="6256276" y="5257799"/>
            <a:ext cx="4579996" cy="894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1 сентября высокая длительность обработки платежа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0116C-1835-474D-8AA9-D72EC8E8369F}"/>
              </a:ext>
            </a:extLst>
          </p:cNvPr>
          <p:cNvSpPr txBox="1"/>
          <p:nvPr/>
        </p:nvSpPr>
        <p:spPr>
          <a:xfrm>
            <a:off x="6096000" y="2055107"/>
            <a:ext cx="47402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Динамика продолжительности обработки платежей</a:t>
            </a:r>
          </a:p>
          <a:p>
            <a:r>
              <a:rPr lang="ru-RU" sz="1400" dirty="0"/>
              <a:t>в секундах</a:t>
            </a:r>
          </a:p>
          <a:p>
            <a:endParaRPr lang="ru-RU" dirty="0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0F3D400E-831F-4913-A7DC-8B88AEDC92AE}"/>
              </a:ext>
            </a:extLst>
          </p:cNvPr>
          <p:cNvSpPr txBox="1"/>
          <p:nvPr/>
        </p:nvSpPr>
        <p:spPr>
          <a:xfrm>
            <a:off x="1028700" y="4660984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0F3D400E-831F-4913-A7DC-8B88AEDC92AE}"/>
              </a:ext>
            </a:extLst>
          </p:cNvPr>
          <p:cNvSpPr txBox="1"/>
          <p:nvPr/>
        </p:nvSpPr>
        <p:spPr>
          <a:xfrm>
            <a:off x="5979835" y="4660984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</p:spTree>
    <p:extLst>
      <p:ext uri="{BB962C8B-B14F-4D97-AF65-F5344CB8AC3E}">
        <p14:creationId xmlns:p14="http://schemas.microsoft.com/office/powerpoint/2010/main" val="221548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0" y="478864"/>
            <a:ext cx="4082142" cy="585788"/>
          </a:xfrm>
        </p:spPr>
        <p:txBody>
          <a:bodyPr rtlCol="0"/>
          <a:lstStyle/>
          <a:p>
            <a:pPr rtl="0"/>
            <a:r>
              <a:rPr lang="ru-RU" dirty="0"/>
              <a:t>Вывод и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7" y="1481138"/>
            <a:ext cx="2623457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 rtl="0"/>
            <a:r>
              <a:rPr lang="ru-RU" dirty="0"/>
              <a:t>Работа торговых точек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49" y="2557463"/>
            <a:ext cx="2867025" cy="514350"/>
          </a:xfrm>
        </p:spPr>
        <p:txBody>
          <a:bodyPr rtlCol="0"/>
          <a:lstStyle/>
          <a:p>
            <a:pPr rtl="0"/>
            <a:r>
              <a:rPr lang="ru-RU" dirty="0"/>
              <a:t>нагрузка серверов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318" y="3633788"/>
            <a:ext cx="3661682" cy="514350"/>
          </a:xfrm>
        </p:spPr>
        <p:txBody>
          <a:bodyPr rtlCol="0"/>
          <a:lstStyle/>
          <a:p>
            <a:pPr rtl="0"/>
            <a:r>
              <a:rPr lang="ru-RU" dirty="0"/>
              <a:t>Кассовое обслуживание 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4710114"/>
            <a:ext cx="3208564" cy="514350"/>
          </a:xfrm>
        </p:spPr>
        <p:txBody>
          <a:bodyPr rtlCol="0"/>
          <a:lstStyle/>
          <a:p>
            <a:pPr rtl="0"/>
            <a:r>
              <a:rPr lang="ru-RU" dirty="0"/>
              <a:t>Возможно проблема?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20342" y="2418158"/>
            <a:ext cx="5539095" cy="1010842"/>
          </a:xfrm>
        </p:spPr>
        <p:txBody>
          <a:bodyPr rtlCol="0">
            <a:noAutofit/>
          </a:bodyPr>
          <a:lstStyle/>
          <a:p>
            <a:pPr rtl="0"/>
            <a:r>
              <a:rPr lang="ru-RU" sz="1500" dirty="0">
                <a:latin typeface="+mn-lt"/>
              </a:rPr>
              <a:t>Сервер 3 действительно перегружен 3 и 4 сентября</a:t>
            </a:r>
          </a:p>
          <a:p>
            <a:r>
              <a:rPr lang="ru-RU" sz="1500" dirty="0">
                <a:latin typeface="+mn-lt"/>
              </a:rPr>
              <a:t>   Сервер 1 в это же время имеет еще ресурс</a:t>
            </a:r>
          </a:p>
          <a:p>
            <a:pPr rtl="0"/>
            <a:r>
              <a:rPr lang="ru-RU" sz="1500" dirty="0">
                <a:latin typeface="+mn-lt"/>
              </a:rPr>
              <a:t>      </a:t>
            </a:r>
            <a:r>
              <a:rPr lang="ru-RU" sz="1500" b="1" dirty="0">
                <a:latin typeface="+mn-lt"/>
              </a:rPr>
              <a:t>Нужно перераспределить нагрузку между серверами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47991" y="3486581"/>
            <a:ext cx="5539095" cy="1010842"/>
          </a:xfrm>
        </p:spPr>
        <p:txBody>
          <a:bodyPr rtlCol="0">
            <a:noAutofit/>
          </a:bodyPr>
          <a:lstStyle/>
          <a:p>
            <a:pPr rtl="0"/>
            <a:endParaRPr lang="ru-RU" sz="1500" dirty="0">
              <a:latin typeface="+mn-lt"/>
            </a:endParaRPr>
          </a:p>
          <a:p>
            <a:pPr rtl="0"/>
            <a:r>
              <a:rPr lang="ru-RU" sz="1500" dirty="0">
                <a:latin typeface="+mn-lt"/>
              </a:rPr>
              <a:t>  Доля касс самообслуживания растет.</a:t>
            </a:r>
          </a:p>
          <a:p>
            <a:pPr rtl="0"/>
            <a:r>
              <a:rPr lang="ru-RU" sz="1500" dirty="0">
                <a:latin typeface="+mn-lt"/>
              </a:rPr>
              <a:t>     Средняя длительность операций тоже увеличивается</a:t>
            </a:r>
          </a:p>
          <a:p>
            <a:pPr rtl="0"/>
            <a:endParaRPr lang="ru-RU" sz="1500" dirty="0">
              <a:latin typeface="+mn-lt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6852" y="4612584"/>
            <a:ext cx="5539095" cy="1010842"/>
          </a:xfrm>
        </p:spPr>
        <p:txBody>
          <a:bodyPr rtlCol="0">
            <a:noAutofit/>
          </a:bodyPr>
          <a:lstStyle/>
          <a:p>
            <a:pPr>
              <a:spcBef>
                <a:spcPts val="1200"/>
              </a:spcBef>
            </a:pPr>
            <a:r>
              <a:rPr lang="ru-RU" sz="1500" dirty="0">
                <a:latin typeface="+mn-lt"/>
              </a:rPr>
              <a:t>1 сентября зафиксирован аномальный скачек  </a:t>
            </a:r>
          </a:p>
          <a:p>
            <a:pPr>
              <a:spcBef>
                <a:spcPts val="1200"/>
              </a:spcBef>
            </a:pPr>
            <a:r>
              <a:rPr lang="ru-RU" sz="1500" dirty="0">
                <a:latin typeface="+mn-lt"/>
              </a:rPr>
              <a:t>   продолжительности обработки операций </a:t>
            </a:r>
          </a:p>
          <a:p>
            <a:r>
              <a:rPr lang="ru-RU" sz="1500" dirty="0">
                <a:latin typeface="+mn-lt"/>
              </a:rPr>
              <a:t>      </a:t>
            </a:r>
            <a:r>
              <a:rPr lang="ru-RU" sz="1500" b="1" dirty="0">
                <a:latin typeface="+mn-lt"/>
              </a:rPr>
              <a:t>Требуется дополнительный анализ</a:t>
            </a:r>
          </a:p>
          <a:p>
            <a:pPr rtl="0"/>
            <a:endParaRPr lang="ru-RU" sz="1500" dirty="0">
              <a:latin typeface="+mn-lt"/>
            </a:endParaRPr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Период 1-7 сентября 2022  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8</a:t>
            </a:fld>
            <a:endParaRPr lang="ru-RU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341C2E5-8043-429B-A2C0-0B82D5EFA144}"/>
              </a:ext>
            </a:extLst>
          </p:cNvPr>
          <p:cNvSpPr txBox="1">
            <a:spLocks/>
          </p:cNvSpPr>
          <p:nvPr/>
        </p:nvSpPr>
        <p:spPr>
          <a:xfrm>
            <a:off x="4388661" y="1349736"/>
            <a:ext cx="6298746" cy="1010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 dirty="0">
                <a:latin typeface="+mn-lt"/>
              </a:rPr>
              <a:t>Открылась новая торговая точка на ул. Чертановская 20к2 </a:t>
            </a:r>
          </a:p>
          <a:p>
            <a:r>
              <a:rPr lang="ru-RU" sz="1500" dirty="0">
                <a:latin typeface="+mn-lt"/>
              </a:rPr>
              <a:t>   Упали продажи на Симферопольском бульваре</a:t>
            </a:r>
          </a:p>
          <a:p>
            <a:r>
              <a:rPr lang="ru-RU" sz="1500" dirty="0">
                <a:latin typeface="+mn-lt"/>
              </a:rPr>
              <a:t>      Общий рост продаж присутствует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1314" y="12690"/>
            <a:ext cx="11151964" cy="1325563"/>
          </a:xfrm>
        </p:spPr>
        <p:txBody>
          <a:bodyPr rtlCol="0"/>
          <a:lstStyle/>
          <a:p>
            <a:r>
              <a:rPr lang="ru-RU" sz="2600" dirty="0"/>
              <a:t>ОБЗОР </a:t>
            </a:r>
            <a:r>
              <a:rPr lang="ru-RU" sz="2000" dirty="0"/>
              <a:t>работы</a:t>
            </a:r>
            <a:r>
              <a:rPr lang="ru-RU" sz="2600" dirty="0"/>
              <a:t> </a:t>
            </a:r>
            <a:r>
              <a:rPr lang="ru-RU" sz="2000" dirty="0"/>
              <a:t>торговых точек 1 сентября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9</a:t>
            </a:fld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C6BE5F9D-3D91-44E4-B575-E8E1620302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3340370"/>
              </p:ext>
            </p:extLst>
          </p:nvPr>
        </p:nvGraphicFramePr>
        <p:xfrm>
          <a:off x="697355" y="1787352"/>
          <a:ext cx="5181599" cy="2725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6596A3C-B43B-4F1B-A569-F19F2E663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552190"/>
              </p:ext>
            </p:extLst>
          </p:nvPr>
        </p:nvGraphicFramePr>
        <p:xfrm>
          <a:off x="5777818" y="1787352"/>
          <a:ext cx="5181600" cy="2725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Семиугольник 12">
            <a:extLst>
              <a:ext uri="{FF2B5EF4-FFF2-40B4-BE49-F238E27FC236}">
                <a16:creationId xmlns:a16="http://schemas.microsoft.com/office/drawing/2014/main" id="{9F91C5C4-C764-4245-9D37-7563A789A598}"/>
              </a:ext>
            </a:extLst>
          </p:cNvPr>
          <p:cNvSpPr/>
          <p:nvPr/>
        </p:nvSpPr>
        <p:spPr>
          <a:xfrm>
            <a:off x="838200" y="4587742"/>
            <a:ext cx="106703" cy="98234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990AE-ADA2-42EA-8A6D-A5A89EC2850B}"/>
              </a:ext>
            </a:extLst>
          </p:cNvPr>
          <p:cNvSpPr txBox="1"/>
          <p:nvPr/>
        </p:nvSpPr>
        <p:spPr>
          <a:xfrm>
            <a:off x="697355" y="1346124"/>
            <a:ext cx="48828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Динамика средней продолжительности операций</a:t>
            </a:r>
          </a:p>
          <a:p>
            <a:r>
              <a:rPr lang="ru-RU" sz="1200" dirty="0"/>
              <a:t>продолжительность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7241F5-5785-4E20-B97C-8E5AFC890811}"/>
              </a:ext>
            </a:extLst>
          </p:cNvPr>
          <p:cNvSpPr txBox="1"/>
          <p:nvPr/>
        </p:nvSpPr>
        <p:spPr>
          <a:xfrm>
            <a:off x="5777818" y="1346124"/>
            <a:ext cx="48828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Динамика количества трансакций</a:t>
            </a:r>
          </a:p>
          <a:p>
            <a:r>
              <a:rPr lang="ru-RU" sz="1200" dirty="0"/>
              <a:t>кол -во транзакций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4645D-1BFC-4467-824A-3340363A9DF2}"/>
              </a:ext>
            </a:extLst>
          </p:cNvPr>
          <p:cNvSpPr txBox="1"/>
          <p:nvPr/>
        </p:nvSpPr>
        <p:spPr>
          <a:xfrm>
            <a:off x="2269650" y="4528790"/>
            <a:ext cx="19705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Симферопольский б-р, 22 </a:t>
            </a:r>
            <a:endParaRPr lang="ru-RU" sz="10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ABA71-055D-4415-8AF6-65EA23236C56}"/>
              </a:ext>
            </a:extLst>
          </p:cNvPr>
          <p:cNvSpPr txBox="1"/>
          <p:nvPr/>
        </p:nvSpPr>
        <p:spPr>
          <a:xfrm>
            <a:off x="960449" y="4513048"/>
            <a:ext cx="12657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ул. Щорса, 26/3 </a:t>
            </a:r>
            <a:endParaRPr lang="ru-RU" sz="1050" b="1" dirty="0"/>
          </a:p>
        </p:txBody>
      </p:sp>
      <p:sp>
        <p:nvSpPr>
          <p:cNvPr id="19" name="Семиугольник 18">
            <a:extLst>
              <a:ext uri="{FF2B5EF4-FFF2-40B4-BE49-F238E27FC236}">
                <a16:creationId xmlns:a16="http://schemas.microsoft.com/office/drawing/2014/main" id="{04477D5D-A42E-433A-92E2-B503AEBD548C}"/>
              </a:ext>
            </a:extLst>
          </p:cNvPr>
          <p:cNvSpPr/>
          <p:nvPr/>
        </p:nvSpPr>
        <p:spPr>
          <a:xfrm>
            <a:off x="2162947" y="4587742"/>
            <a:ext cx="106703" cy="98234"/>
          </a:xfrm>
          <a:prstGeom prst="hep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емиугольник 19">
            <a:extLst>
              <a:ext uri="{FF2B5EF4-FFF2-40B4-BE49-F238E27FC236}">
                <a16:creationId xmlns:a16="http://schemas.microsoft.com/office/drawing/2014/main" id="{073A5776-95D2-4612-A6F5-64CF37D7BC99}"/>
              </a:ext>
            </a:extLst>
          </p:cNvPr>
          <p:cNvSpPr/>
          <p:nvPr/>
        </p:nvSpPr>
        <p:spPr>
          <a:xfrm>
            <a:off x="4038600" y="4587742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7F3B08-04B8-4298-9A64-A2E10CEAEE7E}"/>
              </a:ext>
            </a:extLst>
          </p:cNvPr>
          <p:cNvSpPr txBox="1"/>
          <p:nvPr/>
        </p:nvSpPr>
        <p:spPr>
          <a:xfrm>
            <a:off x="4126642" y="4513048"/>
            <a:ext cx="1787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пр-т Вернадского, 88к3 </a:t>
            </a:r>
            <a:endParaRPr lang="ru-RU" sz="1050" b="1" dirty="0"/>
          </a:p>
        </p:txBody>
      </p:sp>
      <p:sp>
        <p:nvSpPr>
          <p:cNvPr id="22" name="Семиугольник 21">
            <a:extLst>
              <a:ext uri="{FF2B5EF4-FFF2-40B4-BE49-F238E27FC236}">
                <a16:creationId xmlns:a16="http://schemas.microsoft.com/office/drawing/2014/main" id="{7B01DE3D-7A94-4DE5-A4FE-725152E8586F}"/>
              </a:ext>
            </a:extLst>
          </p:cNvPr>
          <p:cNvSpPr/>
          <p:nvPr/>
        </p:nvSpPr>
        <p:spPr>
          <a:xfrm>
            <a:off x="5724466" y="4587742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3FD23-E9EF-47A7-BB5F-F818E7683935}"/>
              </a:ext>
            </a:extLst>
          </p:cNvPr>
          <p:cNvSpPr txBox="1"/>
          <p:nvPr/>
        </p:nvSpPr>
        <p:spPr>
          <a:xfrm>
            <a:off x="5878954" y="4524268"/>
            <a:ext cx="1550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- Ракетный б-р, 14к1</a:t>
            </a:r>
            <a:endParaRPr lang="ru-RU" sz="1000" b="1" dirty="0"/>
          </a:p>
        </p:txBody>
      </p:sp>
      <p:sp>
        <p:nvSpPr>
          <p:cNvPr id="24" name="Семиугольник 23">
            <a:extLst>
              <a:ext uri="{FF2B5EF4-FFF2-40B4-BE49-F238E27FC236}">
                <a16:creationId xmlns:a16="http://schemas.microsoft.com/office/drawing/2014/main" id="{23704157-CC38-4570-84CB-9BD20F9AAA9F}"/>
              </a:ext>
            </a:extLst>
          </p:cNvPr>
          <p:cNvSpPr/>
          <p:nvPr/>
        </p:nvSpPr>
        <p:spPr>
          <a:xfrm>
            <a:off x="7262045" y="4587742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580CFC-36B3-4B24-B099-8826738D3DBE}"/>
              </a:ext>
            </a:extLst>
          </p:cNvPr>
          <p:cNvSpPr txBox="1"/>
          <p:nvPr/>
        </p:nvSpPr>
        <p:spPr>
          <a:xfrm>
            <a:off x="7429138" y="4509901"/>
            <a:ext cx="17876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Ленинский пр-т, 162/1 </a:t>
            </a:r>
            <a:endParaRPr lang="ru-RU" sz="1050" b="1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AD9A9B5-47A4-44AA-AE81-1B40CCE06F6F}"/>
              </a:ext>
            </a:extLst>
          </p:cNvPr>
          <p:cNvSpPr/>
          <p:nvPr/>
        </p:nvSpPr>
        <p:spPr>
          <a:xfrm>
            <a:off x="697354" y="5345246"/>
            <a:ext cx="482405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в районе утра с 3 до 6 на ул. Щорса 26/3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556D2AC7-CC2E-4E10-BDCB-B591FBF855D4}"/>
              </a:ext>
            </a:extLst>
          </p:cNvPr>
          <p:cNvSpPr/>
          <p:nvPr/>
        </p:nvSpPr>
        <p:spPr>
          <a:xfrm>
            <a:off x="697355" y="5639318"/>
            <a:ext cx="5133814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11 – 15.30 на Ленинском пр-т, 162/1 и на пр-т Вернадского, 88к3</a:t>
            </a:r>
            <a:endParaRPr lang="ru-RU" sz="1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BADD61DB-F447-4BBA-B5F3-23857C639AC9}"/>
              </a:ext>
            </a:extLst>
          </p:cNvPr>
          <p:cNvSpPr/>
          <p:nvPr/>
        </p:nvSpPr>
        <p:spPr>
          <a:xfrm>
            <a:off x="697355" y="4978229"/>
            <a:ext cx="4824051" cy="23804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Увеличение продолжительности обработки операций </a:t>
            </a:r>
            <a:endParaRPr lang="ru-RU" sz="15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A8A6985D-F074-4945-A826-FD9537F5180A}"/>
              </a:ext>
            </a:extLst>
          </p:cNvPr>
          <p:cNvSpPr/>
          <p:nvPr/>
        </p:nvSpPr>
        <p:spPr>
          <a:xfrm>
            <a:off x="6162010" y="4978229"/>
            <a:ext cx="4824051" cy="23804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Увеличение количество транзакций (продаж)</a:t>
            </a:r>
            <a:endParaRPr lang="ru-RU" sz="15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6D24AAC7-2AD2-41DE-8C23-DFF5572284ED}"/>
              </a:ext>
            </a:extLst>
          </p:cNvPr>
          <p:cNvSpPr/>
          <p:nvPr/>
        </p:nvSpPr>
        <p:spPr>
          <a:xfrm>
            <a:off x="5852247" y="5345246"/>
            <a:ext cx="5133814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11 – 15.30 на Ленинском пр-т, 162/1 и на пр-т Вернадского, 88к3</a:t>
            </a:r>
            <a:endParaRPr lang="ru-RU" sz="1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DB01814A-76EC-4C68-A920-8AFD53EE20D3}"/>
              </a:ext>
            </a:extLst>
          </p:cNvPr>
          <p:cNvSpPr/>
          <p:nvPr/>
        </p:nvSpPr>
        <p:spPr>
          <a:xfrm>
            <a:off x="6162010" y="5639318"/>
            <a:ext cx="482405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с 3 до 6 на ул. Щорса 26/3 нет роста продаж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AC4B8F-469F-4A51-AAC5-3429F6A30AAE}"/>
              </a:ext>
            </a:extLst>
          </p:cNvPr>
          <p:cNvSpPr txBox="1"/>
          <p:nvPr/>
        </p:nvSpPr>
        <p:spPr>
          <a:xfrm>
            <a:off x="5763131" y="4214091"/>
            <a:ext cx="9020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Часы</a:t>
            </a:r>
          </a:p>
        </p:txBody>
      </p:sp>
      <p:sp>
        <p:nvSpPr>
          <p:cNvPr id="37" name="Правая круглая скобка 36">
            <a:extLst>
              <a:ext uri="{FF2B5EF4-FFF2-40B4-BE49-F238E27FC236}">
                <a16:creationId xmlns:a16="http://schemas.microsoft.com/office/drawing/2014/main" id="{5A139344-F3F3-4C1E-8B03-0DC41DDD9156}"/>
              </a:ext>
            </a:extLst>
          </p:cNvPr>
          <p:cNvSpPr/>
          <p:nvPr/>
        </p:nvSpPr>
        <p:spPr>
          <a:xfrm rot="16200000">
            <a:off x="1994221" y="3958653"/>
            <a:ext cx="76618" cy="587493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авая круглая скобка 37">
            <a:extLst>
              <a:ext uri="{FF2B5EF4-FFF2-40B4-BE49-F238E27FC236}">
                <a16:creationId xmlns:a16="http://schemas.microsoft.com/office/drawing/2014/main" id="{AB1BA2A6-FD98-4268-A724-EBD834565075}"/>
              </a:ext>
            </a:extLst>
          </p:cNvPr>
          <p:cNvSpPr/>
          <p:nvPr/>
        </p:nvSpPr>
        <p:spPr>
          <a:xfrm rot="16200000">
            <a:off x="3685472" y="3830879"/>
            <a:ext cx="76622" cy="84304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авая круглая скобка 38">
            <a:extLst>
              <a:ext uri="{FF2B5EF4-FFF2-40B4-BE49-F238E27FC236}">
                <a16:creationId xmlns:a16="http://schemas.microsoft.com/office/drawing/2014/main" id="{03CFD920-A92B-4084-8A5E-1407AF23BFB8}"/>
              </a:ext>
            </a:extLst>
          </p:cNvPr>
          <p:cNvSpPr/>
          <p:nvPr/>
        </p:nvSpPr>
        <p:spPr>
          <a:xfrm rot="16200000">
            <a:off x="5221682" y="3860834"/>
            <a:ext cx="76621" cy="783128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авая круглая скобка 39">
            <a:extLst>
              <a:ext uri="{FF2B5EF4-FFF2-40B4-BE49-F238E27FC236}">
                <a16:creationId xmlns:a16="http://schemas.microsoft.com/office/drawing/2014/main" id="{9A35A025-A30C-4550-9887-B9526874CB08}"/>
              </a:ext>
            </a:extLst>
          </p:cNvPr>
          <p:cNvSpPr/>
          <p:nvPr/>
        </p:nvSpPr>
        <p:spPr>
          <a:xfrm rot="16200000">
            <a:off x="8791200" y="3801351"/>
            <a:ext cx="76621" cy="902096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9B4FCDA6-37FE-415A-AB30-62214338D916}"/>
              </a:ext>
            </a:extLst>
          </p:cNvPr>
          <p:cNvSpPr/>
          <p:nvPr/>
        </p:nvSpPr>
        <p:spPr>
          <a:xfrm>
            <a:off x="697353" y="5935347"/>
            <a:ext cx="482405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на Ракетном б-р, 14к1 с 19.00 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E2EA0D39-E201-4B15-98DC-35021BD9DC47}"/>
              </a:ext>
            </a:extLst>
          </p:cNvPr>
          <p:cNvSpPr/>
          <p:nvPr/>
        </p:nvSpPr>
        <p:spPr>
          <a:xfrm>
            <a:off x="6162009" y="5948180"/>
            <a:ext cx="482405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на Ракетном б-р, 14к1 с 19.00 так же нет роста продаж</a:t>
            </a:r>
          </a:p>
        </p:txBody>
      </p:sp>
    </p:spTree>
    <p:extLst>
      <p:ext uri="{BB962C8B-B14F-4D97-AF65-F5344CB8AC3E}">
        <p14:creationId xmlns:p14="http://schemas.microsoft.com/office/powerpoint/2010/main" val="127147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961" y="14719"/>
            <a:ext cx="10218514" cy="1325563"/>
          </a:xfrm>
        </p:spPr>
        <p:txBody>
          <a:bodyPr rtlCol="0"/>
          <a:lstStyle/>
          <a:p>
            <a:r>
              <a:rPr lang="ru-RU" sz="2600" dirty="0"/>
              <a:t>ОБЗОР </a:t>
            </a:r>
            <a:r>
              <a:rPr lang="ru-RU" sz="2000" dirty="0"/>
              <a:t>работы</a:t>
            </a:r>
            <a:r>
              <a:rPr lang="ru-RU" sz="2600" dirty="0"/>
              <a:t> </a:t>
            </a:r>
            <a:r>
              <a:rPr lang="ru-RU" sz="2000" dirty="0"/>
              <a:t>серверов и платежных систем 1 сентября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10</a:t>
            </a:fld>
            <a:endParaRPr lang="ru-RU" dirty="0"/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B08FC520-1EC3-4187-8BC0-A6DDC7DBE0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2852160"/>
              </p:ext>
            </p:extLst>
          </p:nvPr>
        </p:nvGraphicFramePr>
        <p:xfrm>
          <a:off x="800416" y="1905000"/>
          <a:ext cx="5225741" cy="2930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F14F4B96-6D05-44DA-84F6-EE280EB174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478817"/>
              </p:ext>
            </p:extLst>
          </p:nvPr>
        </p:nvGraphicFramePr>
        <p:xfrm>
          <a:off x="5784860" y="1943921"/>
          <a:ext cx="5365427" cy="2827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0280C92-9EB5-40DD-A046-AAE52DE7AA6E}"/>
              </a:ext>
            </a:extLst>
          </p:cNvPr>
          <p:cNvSpPr txBox="1"/>
          <p:nvPr/>
        </p:nvSpPr>
        <p:spPr>
          <a:xfrm>
            <a:off x="801854" y="1253309"/>
            <a:ext cx="4882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Динамика средней продолжительности операций по серверам в часовом периоде суток</a:t>
            </a:r>
          </a:p>
          <a:p>
            <a:r>
              <a:rPr lang="ru-RU" sz="1200" dirty="0"/>
              <a:t>продолжительность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4BFCD-70A3-4182-87FF-B07147ECF2F6}"/>
              </a:ext>
            </a:extLst>
          </p:cNvPr>
          <p:cNvSpPr txBox="1"/>
          <p:nvPr/>
        </p:nvSpPr>
        <p:spPr>
          <a:xfrm>
            <a:off x="5977888" y="1253309"/>
            <a:ext cx="4882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Динамика средней продолжительности операций по платежным системам  в часовом периоде суток</a:t>
            </a:r>
          </a:p>
          <a:p>
            <a:r>
              <a:rPr lang="ru-RU" sz="1200" dirty="0"/>
              <a:t>продолжительность</a:t>
            </a:r>
          </a:p>
        </p:txBody>
      </p:sp>
      <p:sp>
        <p:nvSpPr>
          <p:cNvPr id="18" name="Семиугольник 17">
            <a:extLst>
              <a:ext uri="{FF2B5EF4-FFF2-40B4-BE49-F238E27FC236}">
                <a16:creationId xmlns:a16="http://schemas.microsoft.com/office/drawing/2014/main" id="{2F6D5D75-893E-4D9F-BBF6-BA46CDB4E857}"/>
              </a:ext>
            </a:extLst>
          </p:cNvPr>
          <p:cNvSpPr/>
          <p:nvPr/>
        </p:nvSpPr>
        <p:spPr>
          <a:xfrm>
            <a:off x="3419444" y="4885970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Семиугольник 18">
            <a:extLst>
              <a:ext uri="{FF2B5EF4-FFF2-40B4-BE49-F238E27FC236}">
                <a16:creationId xmlns:a16="http://schemas.microsoft.com/office/drawing/2014/main" id="{6CBDE2A0-5F34-439E-B92B-A9A7118482D7}"/>
              </a:ext>
            </a:extLst>
          </p:cNvPr>
          <p:cNvSpPr/>
          <p:nvPr/>
        </p:nvSpPr>
        <p:spPr>
          <a:xfrm>
            <a:off x="8938891" y="4884344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емиугольник 19">
            <a:extLst>
              <a:ext uri="{FF2B5EF4-FFF2-40B4-BE49-F238E27FC236}">
                <a16:creationId xmlns:a16="http://schemas.microsoft.com/office/drawing/2014/main" id="{A90F43CA-467E-43B3-BF82-CD24B87A0168}"/>
              </a:ext>
            </a:extLst>
          </p:cNvPr>
          <p:cNvSpPr/>
          <p:nvPr/>
        </p:nvSpPr>
        <p:spPr>
          <a:xfrm>
            <a:off x="2459510" y="4885970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Семиугольник 20">
            <a:extLst>
              <a:ext uri="{FF2B5EF4-FFF2-40B4-BE49-F238E27FC236}">
                <a16:creationId xmlns:a16="http://schemas.microsoft.com/office/drawing/2014/main" id="{347F8866-6CAC-4727-925F-8EAD9812B960}"/>
              </a:ext>
            </a:extLst>
          </p:cNvPr>
          <p:cNvSpPr/>
          <p:nvPr/>
        </p:nvSpPr>
        <p:spPr>
          <a:xfrm>
            <a:off x="7765688" y="4890726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Семиугольник 21">
            <a:extLst>
              <a:ext uri="{FF2B5EF4-FFF2-40B4-BE49-F238E27FC236}">
                <a16:creationId xmlns:a16="http://schemas.microsoft.com/office/drawing/2014/main" id="{779F5A89-25A5-4D08-A3A2-DA3B222B8D9D}"/>
              </a:ext>
            </a:extLst>
          </p:cNvPr>
          <p:cNvSpPr/>
          <p:nvPr/>
        </p:nvSpPr>
        <p:spPr>
          <a:xfrm>
            <a:off x="4388999" y="4885970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Семиугольник 22">
            <a:extLst>
              <a:ext uri="{FF2B5EF4-FFF2-40B4-BE49-F238E27FC236}">
                <a16:creationId xmlns:a16="http://schemas.microsoft.com/office/drawing/2014/main" id="{12328711-31D1-4535-BCC1-78E830E7D1A6}"/>
              </a:ext>
            </a:extLst>
          </p:cNvPr>
          <p:cNvSpPr/>
          <p:nvPr/>
        </p:nvSpPr>
        <p:spPr>
          <a:xfrm>
            <a:off x="9756886" y="4884344"/>
            <a:ext cx="106703" cy="98234"/>
          </a:xfrm>
          <a:prstGeom prst="heptag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0ED689-7F18-42B0-BC3B-FC73B03725C9}"/>
              </a:ext>
            </a:extLst>
          </p:cNvPr>
          <p:cNvSpPr txBox="1"/>
          <p:nvPr/>
        </p:nvSpPr>
        <p:spPr>
          <a:xfrm>
            <a:off x="3540253" y="4798048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- 2 сервер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3C1341-E678-4AB3-A114-187389F93C73}"/>
              </a:ext>
            </a:extLst>
          </p:cNvPr>
          <p:cNvSpPr txBox="1"/>
          <p:nvPr/>
        </p:nvSpPr>
        <p:spPr>
          <a:xfrm>
            <a:off x="4495702" y="4802315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- 3 сервер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A27E1A-CC8E-4DB7-9F1B-8954DEB62DD4}"/>
              </a:ext>
            </a:extLst>
          </p:cNvPr>
          <p:cNvSpPr txBox="1"/>
          <p:nvPr/>
        </p:nvSpPr>
        <p:spPr>
          <a:xfrm>
            <a:off x="2571845" y="4801829"/>
            <a:ext cx="902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- 1 сервер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BC6693-9E66-42CE-9B11-ED09D29E7A17}"/>
              </a:ext>
            </a:extLst>
          </p:cNvPr>
          <p:cNvSpPr txBox="1"/>
          <p:nvPr/>
        </p:nvSpPr>
        <p:spPr>
          <a:xfrm>
            <a:off x="7899717" y="4808129"/>
            <a:ext cx="1039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</a:t>
            </a:r>
            <a:r>
              <a:rPr lang="en-US" sz="1050" b="1" dirty="0"/>
              <a:t>MasterCard</a:t>
            </a:r>
            <a:endParaRPr lang="ru-RU" sz="105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F8901B-1536-4BC9-967E-A70EF6A0C6B7}"/>
              </a:ext>
            </a:extLst>
          </p:cNvPr>
          <p:cNvSpPr txBox="1"/>
          <p:nvPr/>
        </p:nvSpPr>
        <p:spPr>
          <a:xfrm>
            <a:off x="9100245" y="4791696"/>
            <a:ext cx="1039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</a:t>
            </a:r>
            <a:r>
              <a:rPr lang="en-US" sz="1050" b="1" dirty="0"/>
              <a:t>Visa</a:t>
            </a:r>
            <a:endParaRPr lang="ru-RU" sz="105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A7DBF2-64E5-4387-B9F0-45CC3A69AE44}"/>
              </a:ext>
            </a:extLst>
          </p:cNvPr>
          <p:cNvSpPr txBox="1"/>
          <p:nvPr/>
        </p:nvSpPr>
        <p:spPr>
          <a:xfrm>
            <a:off x="9978065" y="4818219"/>
            <a:ext cx="11949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МИР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F51270-5AA2-406A-B746-B1ADA8148BBB}"/>
              </a:ext>
            </a:extLst>
          </p:cNvPr>
          <p:cNvSpPr txBox="1"/>
          <p:nvPr/>
        </p:nvSpPr>
        <p:spPr>
          <a:xfrm>
            <a:off x="736039" y="4537351"/>
            <a:ext cx="9020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Часы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3584A8-7490-471F-8B4F-DBEC23380DE8}"/>
              </a:ext>
            </a:extLst>
          </p:cNvPr>
          <p:cNvSpPr txBox="1"/>
          <p:nvPr/>
        </p:nvSpPr>
        <p:spPr>
          <a:xfrm>
            <a:off x="5860169" y="4540705"/>
            <a:ext cx="9020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Часы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FFF3BDB3-B169-4508-8991-437B6F799330}"/>
              </a:ext>
            </a:extLst>
          </p:cNvPr>
          <p:cNvSpPr/>
          <p:nvPr/>
        </p:nvSpPr>
        <p:spPr>
          <a:xfrm>
            <a:off x="960806" y="5069326"/>
            <a:ext cx="4824051" cy="23804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Увеличение продолжительности обработки операций </a:t>
            </a:r>
            <a:endParaRPr lang="ru-RU" sz="1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E1794B7-C2F9-442B-91DA-87DD1FDD4D4A}"/>
              </a:ext>
            </a:extLst>
          </p:cNvPr>
          <p:cNvSpPr/>
          <p:nvPr/>
        </p:nvSpPr>
        <p:spPr>
          <a:xfrm>
            <a:off x="6096000" y="5069326"/>
            <a:ext cx="4824051" cy="238042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Увеличение времени обработки транзакций (продаж)</a:t>
            </a:r>
            <a:endParaRPr lang="ru-RU" sz="1400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3B5D7FA-1B2D-49B3-BFFD-8470D6A887CE}"/>
              </a:ext>
            </a:extLst>
          </p:cNvPr>
          <p:cNvSpPr/>
          <p:nvPr/>
        </p:nvSpPr>
        <p:spPr>
          <a:xfrm>
            <a:off x="960805" y="5366761"/>
            <a:ext cx="276636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На 1 сервере с 3 до 6.00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14240688-E27C-4279-B4AD-78372B39FB20}"/>
              </a:ext>
            </a:extLst>
          </p:cNvPr>
          <p:cNvSpPr/>
          <p:nvPr/>
        </p:nvSpPr>
        <p:spPr>
          <a:xfrm>
            <a:off x="960805" y="5687062"/>
            <a:ext cx="276636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на 2 сервере с 11 до 15.00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C60D207-15B9-4DE2-AF87-C987F11E9D03}"/>
              </a:ext>
            </a:extLst>
          </p:cNvPr>
          <p:cNvSpPr/>
          <p:nvPr/>
        </p:nvSpPr>
        <p:spPr>
          <a:xfrm>
            <a:off x="960805" y="6015076"/>
            <a:ext cx="276636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на 3 сервере с 19.00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308F9F-C0B5-4BFD-81FC-64597C5767A8}"/>
              </a:ext>
            </a:extLst>
          </p:cNvPr>
          <p:cNvSpPr/>
          <p:nvPr/>
        </p:nvSpPr>
        <p:spPr>
          <a:xfrm>
            <a:off x="6096000" y="5392582"/>
            <a:ext cx="2766368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с 3 до 6.00 все 3 системы 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56C50C51-E845-4C03-9F96-A803DFF64EB4}"/>
              </a:ext>
            </a:extLst>
          </p:cNvPr>
          <p:cNvSpPr/>
          <p:nvPr/>
        </p:nvSpPr>
        <p:spPr>
          <a:xfrm>
            <a:off x="6096000" y="5700322"/>
            <a:ext cx="2766368" cy="240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с 11 до 15.00 все 3 системы 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5E7AD503-CDAA-4D2F-B3D6-E2D5998BFB5A}"/>
              </a:ext>
            </a:extLst>
          </p:cNvPr>
          <p:cNvSpPr/>
          <p:nvPr/>
        </p:nvSpPr>
        <p:spPr>
          <a:xfrm>
            <a:off x="6095999" y="5994802"/>
            <a:ext cx="276636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вечером с 19.00 </a:t>
            </a:r>
            <a:r>
              <a:rPr lang="en-US" sz="1600" dirty="0">
                <a:ln w="0"/>
                <a:solidFill>
                  <a:schemeClr val="accent1">
                    <a:lumMod val="25000"/>
                  </a:schemeClr>
                </a:solidFill>
              </a:rPr>
              <a:t>MasterCard</a:t>
            </a:r>
            <a:endParaRPr lang="ru-RU" sz="1600" dirty="0">
              <a:ln w="0"/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41" name="Правая круглая скобка 40">
            <a:extLst>
              <a:ext uri="{FF2B5EF4-FFF2-40B4-BE49-F238E27FC236}">
                <a16:creationId xmlns:a16="http://schemas.microsoft.com/office/drawing/2014/main" id="{F786B6B2-78DC-4180-8686-F5209ACBC5CB}"/>
              </a:ext>
            </a:extLst>
          </p:cNvPr>
          <p:cNvSpPr/>
          <p:nvPr/>
        </p:nvSpPr>
        <p:spPr>
          <a:xfrm rot="16200000">
            <a:off x="3797178" y="4170613"/>
            <a:ext cx="69938" cy="801399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авая круглая скобка 41">
            <a:extLst>
              <a:ext uri="{FF2B5EF4-FFF2-40B4-BE49-F238E27FC236}">
                <a16:creationId xmlns:a16="http://schemas.microsoft.com/office/drawing/2014/main" id="{D5448600-1DC0-43A1-8E75-FCAF2CDECAC5}"/>
              </a:ext>
            </a:extLst>
          </p:cNvPr>
          <p:cNvSpPr/>
          <p:nvPr/>
        </p:nvSpPr>
        <p:spPr>
          <a:xfrm rot="16200000">
            <a:off x="2122500" y="4277515"/>
            <a:ext cx="69940" cy="604083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авая круглая скобка 42">
            <a:extLst>
              <a:ext uri="{FF2B5EF4-FFF2-40B4-BE49-F238E27FC236}">
                <a16:creationId xmlns:a16="http://schemas.microsoft.com/office/drawing/2014/main" id="{4CD9E28A-D24B-41B6-A8CB-44037B41B926}"/>
              </a:ext>
            </a:extLst>
          </p:cNvPr>
          <p:cNvSpPr/>
          <p:nvPr/>
        </p:nvSpPr>
        <p:spPr>
          <a:xfrm rot="16200000">
            <a:off x="5402218" y="4127873"/>
            <a:ext cx="71209" cy="902098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авая круглая скобка 43">
            <a:extLst>
              <a:ext uri="{FF2B5EF4-FFF2-40B4-BE49-F238E27FC236}">
                <a16:creationId xmlns:a16="http://schemas.microsoft.com/office/drawing/2014/main" id="{84C12170-0F7E-4168-BCBD-AE09689A2964}"/>
              </a:ext>
            </a:extLst>
          </p:cNvPr>
          <p:cNvSpPr/>
          <p:nvPr/>
        </p:nvSpPr>
        <p:spPr>
          <a:xfrm rot="16200000">
            <a:off x="7221790" y="4280414"/>
            <a:ext cx="73504" cy="59931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авая круглая скобка 44">
            <a:extLst>
              <a:ext uri="{FF2B5EF4-FFF2-40B4-BE49-F238E27FC236}">
                <a16:creationId xmlns:a16="http://schemas.microsoft.com/office/drawing/2014/main" id="{F16DD996-08C3-4261-9F93-EA7882432422}"/>
              </a:ext>
            </a:extLst>
          </p:cNvPr>
          <p:cNvSpPr/>
          <p:nvPr/>
        </p:nvSpPr>
        <p:spPr>
          <a:xfrm rot="16200000">
            <a:off x="8856932" y="4174092"/>
            <a:ext cx="69938" cy="801399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авая круглая скобка 45">
            <a:extLst>
              <a:ext uri="{FF2B5EF4-FFF2-40B4-BE49-F238E27FC236}">
                <a16:creationId xmlns:a16="http://schemas.microsoft.com/office/drawing/2014/main" id="{1225F3BF-2426-4AB2-9E60-0D04CC65D84D}"/>
              </a:ext>
            </a:extLst>
          </p:cNvPr>
          <p:cNvSpPr/>
          <p:nvPr/>
        </p:nvSpPr>
        <p:spPr>
          <a:xfrm rot="16200000">
            <a:off x="10388972" y="4176471"/>
            <a:ext cx="69938" cy="801399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960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175" y="622298"/>
            <a:ext cx="4082142" cy="585788"/>
          </a:xfrm>
        </p:spPr>
        <p:txBody>
          <a:bodyPr rtlCol="0">
            <a:normAutofit/>
          </a:bodyPr>
          <a:lstStyle/>
          <a:p>
            <a:pPr rtl="0"/>
            <a:r>
              <a:rPr lang="ru-RU" sz="2600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8882" y="1481135"/>
            <a:ext cx="2623457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Скидочная акция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9909" y="2557462"/>
            <a:ext cx="3238499" cy="514350"/>
          </a:xfrm>
        </p:spPr>
        <p:txBody>
          <a:bodyPr rtlCol="0"/>
          <a:lstStyle/>
          <a:p>
            <a:r>
              <a:rPr lang="ru-RU" dirty="0"/>
              <a:t>Перебои</a:t>
            </a:r>
            <a:r>
              <a:rPr lang="ru-RU" b="1" dirty="0"/>
              <a:t> </a:t>
            </a:r>
            <a:r>
              <a:rPr lang="ru-RU" dirty="0"/>
              <a:t>с</a:t>
            </a:r>
            <a:r>
              <a:rPr lang="ru-RU" b="1" dirty="0"/>
              <a:t> </a:t>
            </a:r>
            <a:r>
              <a:rPr lang="ru-RU" dirty="0"/>
              <a:t>интернетом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882" y="3633787"/>
            <a:ext cx="3661682" cy="514350"/>
          </a:xfrm>
        </p:spPr>
        <p:txBody>
          <a:bodyPr rtlCol="0"/>
          <a:lstStyle/>
          <a:p>
            <a:r>
              <a:rPr lang="ru-RU" dirty="0"/>
              <a:t>Продвижение интеграции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4710114"/>
            <a:ext cx="3208564" cy="514350"/>
          </a:xfrm>
        </p:spPr>
        <p:txBody>
          <a:bodyPr rtlCol="0"/>
          <a:lstStyle/>
          <a:p>
            <a:r>
              <a:rPr lang="ru-RU" b="1" dirty="0"/>
              <a:t>Тезис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29817" y="2375677"/>
            <a:ext cx="7029078" cy="1010842"/>
          </a:xfrm>
        </p:spPr>
        <p:txBody>
          <a:bodyPr rtlCol="0">
            <a:normAutofit fontScale="25000" lnSpcReduction="20000"/>
          </a:bodyPr>
          <a:lstStyle/>
          <a:p>
            <a:r>
              <a:rPr lang="ru-RU" sz="5600" dirty="0"/>
              <a:t>не добавили продаж на торговой точке по ул. Щорса 26/3   </a:t>
            </a:r>
          </a:p>
          <a:p>
            <a:r>
              <a:rPr lang="ru-RU" sz="5600" dirty="0"/>
              <a:t>   </a:t>
            </a:r>
            <a:r>
              <a:rPr lang="ru-RU" sz="5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увеличили продолжительность обработки операций </a:t>
            </a:r>
            <a:r>
              <a:rPr lang="ru-RU" sz="5600" dirty="0"/>
              <a:t>на сервера 1</a:t>
            </a:r>
          </a:p>
          <a:p>
            <a:r>
              <a:rPr lang="ru-RU" sz="5600" dirty="0"/>
              <a:t>      и платежной системы МИР</a:t>
            </a:r>
          </a:p>
          <a:p>
            <a:pPr lvl="0"/>
            <a:endParaRPr lang="ru-RU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rtl="0"/>
            <a:r>
              <a:rPr lang="ru-RU" dirty="0"/>
              <a:t>      </a:t>
            </a:r>
            <a:endParaRPr lang="ru-RU" b="1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616" y="3452813"/>
            <a:ext cx="6039159" cy="1010842"/>
          </a:xfrm>
        </p:spPr>
        <p:txBody>
          <a:bodyPr rtlCol="0"/>
          <a:lstStyle/>
          <a:p>
            <a:pPr lvl="0"/>
            <a:r>
              <a:rPr lang="ru-RU" dirty="0"/>
              <a:t>не добавило продаж  в торговой точке на Ракетном б-р, 14к1</a:t>
            </a:r>
            <a:r>
              <a:rPr lang="ru-RU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</a:p>
          <a:p>
            <a:pPr lvl="0">
              <a:spcBef>
                <a:spcPts val="600"/>
              </a:spcBef>
            </a:pPr>
            <a:r>
              <a:rPr lang="ru-RU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увеличило время обработки операций </a:t>
            </a:r>
            <a:r>
              <a:rPr lang="ru-RU" dirty="0"/>
              <a:t>на сервере  3 </a:t>
            </a:r>
          </a:p>
          <a:p>
            <a:pPr>
              <a:spcBef>
                <a:spcPts val="600"/>
              </a:spcBef>
            </a:pPr>
            <a:r>
              <a:rPr lang="ru-RU" dirty="0"/>
              <a:t>     и платежной системы </a:t>
            </a:r>
            <a:r>
              <a:rPr lang="en-US" dirty="0">
                <a:ln w="0"/>
                <a:solidFill>
                  <a:schemeClr val="tx1"/>
                </a:solidFill>
              </a:rPr>
              <a:t>MasterCard</a:t>
            </a:r>
            <a:endParaRPr lang="ru-RU" dirty="0">
              <a:solidFill>
                <a:schemeClr val="tx1"/>
              </a:solidFill>
            </a:endParaRPr>
          </a:p>
          <a:p>
            <a:pPr lvl="0">
              <a:spcBef>
                <a:spcPts val="600"/>
              </a:spcBef>
            </a:pP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34075" y="4773793"/>
            <a:ext cx="5539095" cy="1010842"/>
          </a:xfrm>
        </p:spPr>
        <p:txBody>
          <a:bodyPr rtlCol="0">
            <a:normAutofit/>
          </a:bodyPr>
          <a:lstStyle/>
          <a:p>
            <a:pPr>
              <a:spcBef>
                <a:spcPts val="1200"/>
              </a:spcBef>
            </a:pPr>
            <a:r>
              <a:rPr lang="ru-RU" b="1" dirty="0"/>
              <a:t>Не всегда рост приводит к прибыли</a:t>
            </a:r>
          </a:p>
          <a:p>
            <a:pPr rtl="0"/>
            <a:endParaRPr lang="ru-RU" b="1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11</a:t>
            </a:fld>
            <a:endParaRPr lang="ru-RU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341C2E5-8043-429B-A2C0-0B82D5EFA144}"/>
              </a:ext>
            </a:extLst>
          </p:cNvPr>
          <p:cNvSpPr txBox="1">
            <a:spLocks/>
          </p:cNvSpPr>
          <p:nvPr/>
        </p:nvSpPr>
        <p:spPr>
          <a:xfrm>
            <a:off x="3970564" y="1264774"/>
            <a:ext cx="7588331" cy="1010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увеличила продажи по адресам </a:t>
            </a:r>
            <a:r>
              <a:rPr lang="ru-RU" kern="0" dirty="0">
                <a:solidFill>
                  <a:srgbClr val="000000"/>
                </a:solidFill>
              </a:rPr>
              <a:t>Ленинском пр-т, 162/1 и на пр-т Вернадского, 88к3,</a:t>
            </a:r>
            <a:endParaRPr lang="ru-RU" dirty="0"/>
          </a:p>
          <a:p>
            <a:r>
              <a:rPr lang="ru-RU" dirty="0"/>
              <a:t>   увеличила кол-во платежей через все системы оплаты, </a:t>
            </a:r>
          </a:p>
          <a:p>
            <a:r>
              <a:rPr lang="ru-RU" dirty="0"/>
              <a:t>      увеличила время обработки транзакций на сервере 2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413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12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465815" y="17052"/>
            <a:ext cx="759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Диагностика</a:t>
            </a:r>
            <a:r>
              <a:rPr lang="ru-RU" sz="2600" dirty="0"/>
              <a:t> </a:t>
            </a:r>
            <a:r>
              <a:rPr lang="ru-RU" sz="2000" dirty="0"/>
              <a:t>проблемы 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FDCECC8-A4DE-46B4-9D13-E83806130E02}"/>
              </a:ext>
            </a:extLst>
          </p:cNvPr>
          <p:cNvSpPr/>
          <p:nvPr/>
        </p:nvSpPr>
        <p:spPr>
          <a:xfrm>
            <a:off x="1066800" y="5156186"/>
            <a:ext cx="1179443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Сервер 1 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4034C5D-9DF2-4456-9B93-60474B710457}"/>
              </a:ext>
            </a:extLst>
          </p:cNvPr>
          <p:cNvSpPr/>
          <p:nvPr/>
        </p:nvSpPr>
        <p:spPr>
          <a:xfrm>
            <a:off x="1066800" y="5457026"/>
            <a:ext cx="1179443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Сервер 2 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02CD00-7C99-4BE1-9971-4A528E115E4A}"/>
              </a:ext>
            </a:extLst>
          </p:cNvPr>
          <p:cNvSpPr/>
          <p:nvPr/>
        </p:nvSpPr>
        <p:spPr>
          <a:xfrm>
            <a:off x="1066799" y="5756268"/>
            <a:ext cx="1179444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Сервер 1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0CC1ED0-47D2-4300-9E2C-B0A45A6FC1FC}"/>
              </a:ext>
            </a:extLst>
          </p:cNvPr>
          <p:cNvSpPr/>
          <p:nvPr/>
        </p:nvSpPr>
        <p:spPr>
          <a:xfrm>
            <a:off x="2312185" y="5155435"/>
            <a:ext cx="3783815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rgbClr val="7030A0"/>
                </a:solidFill>
              </a:rPr>
              <a:t>сбой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 5 сентября в период с 00:00 по 09:00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934B131-4D7F-475C-8570-AAA24144FBF7}"/>
              </a:ext>
            </a:extLst>
          </p:cNvPr>
          <p:cNvSpPr/>
          <p:nvPr/>
        </p:nvSpPr>
        <p:spPr>
          <a:xfrm>
            <a:off x="2312185" y="5459009"/>
            <a:ext cx="3783815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rgbClr val="FFC000"/>
                </a:solidFill>
              </a:rPr>
              <a:t>сбой 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7</a:t>
            </a:r>
            <a:r>
              <a:rPr lang="ru-RU" sz="1500" dirty="0">
                <a:ln w="0"/>
                <a:solidFill>
                  <a:srgbClr val="FFC000"/>
                </a:solidFill>
              </a:rPr>
              <a:t> 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сентября в период 12.00-13.00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B115F4B-3044-41F7-B039-B8A9D4EDB52F}"/>
              </a:ext>
            </a:extLst>
          </p:cNvPr>
          <p:cNvSpPr/>
          <p:nvPr/>
        </p:nvSpPr>
        <p:spPr>
          <a:xfrm>
            <a:off x="2312185" y="5751563"/>
            <a:ext cx="3783815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rgbClr val="FF0000"/>
                </a:solidFill>
              </a:rPr>
              <a:t>сбой 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6 сентября в течение всего дня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AB42D16-ED20-48C3-B593-AFCA663B30F5}"/>
              </a:ext>
            </a:extLst>
          </p:cNvPr>
          <p:cNvSpPr/>
          <p:nvPr/>
        </p:nvSpPr>
        <p:spPr>
          <a:xfrm>
            <a:off x="1066799" y="4790751"/>
            <a:ext cx="2490773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Расшифровка схемы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2828B-228A-47AA-8FBF-76F9BE716898}"/>
              </a:ext>
            </a:extLst>
          </p:cNvPr>
          <p:cNvSpPr txBox="1"/>
          <p:nvPr/>
        </p:nvSpPr>
        <p:spPr>
          <a:xfrm>
            <a:off x="1147762" y="1567180"/>
            <a:ext cx="4280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сбой на серверах в разное время суток</a:t>
            </a:r>
            <a:endParaRPr lang="ru-RU" dirty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EA0295-14C1-429D-B5A4-D49C52781AAF}"/>
              </a:ext>
            </a:extLst>
          </p:cNvPr>
          <p:cNvSpPr/>
          <p:nvPr/>
        </p:nvSpPr>
        <p:spPr>
          <a:xfrm>
            <a:off x="6414054" y="1497848"/>
            <a:ext cx="2196546" cy="5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Модуль первичной обработки платежа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8F3E819-42E4-4F9C-AF6C-B28680433FDD}"/>
              </a:ext>
            </a:extLst>
          </p:cNvPr>
          <p:cNvSpPr/>
          <p:nvPr/>
        </p:nvSpPr>
        <p:spPr>
          <a:xfrm>
            <a:off x="6414054" y="2245170"/>
            <a:ext cx="2196546" cy="5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Информация о самообслуживании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61AFBB7-42EF-4A71-83B3-C263B0EC6896}"/>
              </a:ext>
            </a:extLst>
          </p:cNvPr>
          <p:cNvSpPr/>
          <p:nvPr/>
        </p:nvSpPr>
        <p:spPr>
          <a:xfrm>
            <a:off x="8405194" y="2968256"/>
            <a:ext cx="2196546" cy="5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Информация о </a:t>
            </a:r>
          </a:p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программе лояльности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BB440AD-670C-46DB-BA03-08E28BA13301}"/>
              </a:ext>
            </a:extLst>
          </p:cNvPr>
          <p:cNvSpPr/>
          <p:nvPr/>
        </p:nvSpPr>
        <p:spPr>
          <a:xfrm>
            <a:off x="4217508" y="2968256"/>
            <a:ext cx="2196546" cy="5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Информация о </a:t>
            </a:r>
          </a:p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программе лояльности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95FFB1-0EF8-4DC6-B87A-CAD2E8099260}"/>
              </a:ext>
            </a:extLst>
          </p:cNvPr>
          <p:cNvSpPr/>
          <p:nvPr/>
        </p:nvSpPr>
        <p:spPr>
          <a:xfrm>
            <a:off x="3068605" y="3764304"/>
            <a:ext cx="2196546" cy="507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Модуль обработки скидки по программе лояльности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363607D-4E91-4EAF-B04C-DED06273EB18}"/>
              </a:ext>
            </a:extLst>
          </p:cNvPr>
          <p:cNvSpPr/>
          <p:nvPr/>
        </p:nvSpPr>
        <p:spPr>
          <a:xfrm>
            <a:off x="7306921" y="3763781"/>
            <a:ext cx="2196546" cy="507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Модуль обработки скидки по программе лояльности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94BF221-4AEE-4085-8B34-1D6876306D62}"/>
              </a:ext>
            </a:extLst>
          </p:cNvPr>
          <p:cNvSpPr/>
          <p:nvPr/>
        </p:nvSpPr>
        <p:spPr>
          <a:xfrm>
            <a:off x="4563260" y="4469287"/>
            <a:ext cx="2196546" cy="507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Регистрация платежа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ECEE56D-D764-45F8-910B-ECB0233219F8}"/>
              </a:ext>
            </a:extLst>
          </p:cNvPr>
          <p:cNvSpPr/>
          <p:nvPr/>
        </p:nvSpPr>
        <p:spPr>
          <a:xfrm>
            <a:off x="8405194" y="4469682"/>
            <a:ext cx="2196546" cy="507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>
                    <a:lumMod val="25000"/>
                  </a:schemeClr>
                </a:solidFill>
              </a:rPr>
              <a:t>Регистрация платежа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D7828191-3144-4E85-9B68-E3C948086E01}"/>
              </a:ext>
            </a:extLst>
          </p:cNvPr>
          <p:cNvCxnSpPr>
            <a:stCxn id="17" idx="2"/>
            <a:endCxn id="27" idx="0"/>
          </p:cNvCxnSpPr>
          <p:nvPr/>
        </p:nvCxnSpPr>
        <p:spPr>
          <a:xfrm>
            <a:off x="7512327" y="2005844"/>
            <a:ext cx="0" cy="23932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83139AF-111A-42F4-ADC1-9CF166B851FC}"/>
              </a:ext>
            </a:extLst>
          </p:cNvPr>
          <p:cNvCxnSpPr>
            <a:stCxn id="27" idx="2"/>
          </p:cNvCxnSpPr>
          <p:nvPr/>
        </p:nvCxnSpPr>
        <p:spPr>
          <a:xfrm>
            <a:off x="7512327" y="2753166"/>
            <a:ext cx="0" cy="46908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02A4955D-1305-41BF-8507-3D3199BEBA9A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414054" y="3222254"/>
            <a:ext cx="1098273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F6E25DFA-D9FF-4BB0-8402-FE8F3D221082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7512327" y="3222254"/>
            <a:ext cx="892867" cy="0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AD5EA397-EFC8-4648-86EF-E40F2401EA07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4166878" y="4272301"/>
            <a:ext cx="0" cy="4484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94F6B925-E521-476E-8551-3AF1E80A0DFD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4166878" y="4720775"/>
            <a:ext cx="396382" cy="25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070FBDCF-6402-4B49-9160-D4606C4EE1AA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4166878" y="3639666"/>
            <a:ext cx="0" cy="1246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39699FFB-F66E-4131-B21A-9FA2547A25DF}"/>
              </a:ext>
            </a:extLst>
          </p:cNvPr>
          <p:cNvCxnSpPr>
            <a:cxnSpLocks/>
          </p:cNvCxnSpPr>
          <p:nvPr/>
        </p:nvCxnSpPr>
        <p:spPr>
          <a:xfrm>
            <a:off x="4166878" y="3638649"/>
            <a:ext cx="1494655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24" name="Прямая соединительная линия 1023">
            <a:extLst>
              <a:ext uri="{FF2B5EF4-FFF2-40B4-BE49-F238E27FC236}">
                <a16:creationId xmlns:a16="http://schemas.microsoft.com/office/drawing/2014/main" id="{3D4618FE-5134-4633-A6A1-71230F529F79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661533" y="3638649"/>
            <a:ext cx="0" cy="83063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1" name="Прямая соединительная линия 1030">
            <a:extLst>
              <a:ext uri="{FF2B5EF4-FFF2-40B4-BE49-F238E27FC236}">
                <a16:creationId xmlns:a16="http://schemas.microsoft.com/office/drawing/2014/main" id="{B953BBB2-EC9B-42B2-9E33-1164AB0D0F63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315781" y="3476252"/>
            <a:ext cx="0" cy="1623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4" name="Прямая соединительная линия 1033">
            <a:extLst>
              <a:ext uri="{FF2B5EF4-FFF2-40B4-BE49-F238E27FC236}">
                <a16:creationId xmlns:a16="http://schemas.microsoft.com/office/drawing/2014/main" id="{30C5B832-11D4-4D7C-AD1A-C2923FE2919E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503467" y="3476252"/>
            <a:ext cx="0" cy="12449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7" name="Прямая соединительная линия 1036">
            <a:extLst>
              <a:ext uri="{FF2B5EF4-FFF2-40B4-BE49-F238E27FC236}">
                <a16:creationId xmlns:a16="http://schemas.microsoft.com/office/drawing/2014/main" id="{1C47B81F-CE0D-476F-952A-6F0522D93AB2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405193" y="3600746"/>
            <a:ext cx="1" cy="16303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41" name="Прямая соединительная линия 1040">
            <a:extLst>
              <a:ext uri="{FF2B5EF4-FFF2-40B4-BE49-F238E27FC236}">
                <a16:creationId xmlns:a16="http://schemas.microsoft.com/office/drawing/2014/main" id="{A775D38D-3D6B-42D5-BED4-09B21F013915}"/>
              </a:ext>
            </a:extLst>
          </p:cNvPr>
          <p:cNvCxnSpPr>
            <a:cxnSpLocks/>
          </p:cNvCxnSpPr>
          <p:nvPr/>
        </p:nvCxnSpPr>
        <p:spPr>
          <a:xfrm>
            <a:off x="8405193" y="3600746"/>
            <a:ext cx="1548975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655B56B-EDEA-47EA-B666-8E0164F7DF85}"/>
              </a:ext>
            </a:extLst>
          </p:cNvPr>
          <p:cNvSpPr txBox="1"/>
          <p:nvPr/>
        </p:nvSpPr>
        <p:spPr>
          <a:xfrm>
            <a:off x="7811150" y="2995875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нет</a:t>
            </a:r>
          </a:p>
        </p:txBody>
      </p:sp>
      <p:cxnSp>
        <p:nvCxnSpPr>
          <p:cNvPr id="1045" name="Прямая соединительная линия 1044">
            <a:extLst>
              <a:ext uri="{FF2B5EF4-FFF2-40B4-BE49-F238E27FC236}">
                <a16:creationId xmlns:a16="http://schemas.microsoft.com/office/drawing/2014/main" id="{972A2040-168A-4856-877F-9884B2BADCEB}"/>
              </a:ext>
            </a:extLst>
          </p:cNvPr>
          <p:cNvCxnSpPr>
            <a:cxnSpLocks/>
          </p:cNvCxnSpPr>
          <p:nvPr/>
        </p:nvCxnSpPr>
        <p:spPr>
          <a:xfrm>
            <a:off x="9954168" y="3600746"/>
            <a:ext cx="0" cy="86854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DB19E20-D84B-4449-8F5E-E3061366E95D}"/>
              </a:ext>
            </a:extLst>
          </p:cNvPr>
          <p:cNvSpPr txBox="1"/>
          <p:nvPr/>
        </p:nvSpPr>
        <p:spPr>
          <a:xfrm>
            <a:off x="10008839" y="3899387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нет</a:t>
            </a:r>
          </a:p>
        </p:txBody>
      </p:sp>
      <p:cxnSp>
        <p:nvCxnSpPr>
          <p:cNvPr id="1051" name="Прямая соединительная линия 1050">
            <a:extLst>
              <a:ext uri="{FF2B5EF4-FFF2-40B4-BE49-F238E27FC236}">
                <a16:creationId xmlns:a16="http://schemas.microsoft.com/office/drawing/2014/main" id="{94BFE3E0-C943-4EF2-B6E3-DBCF48B2D58F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7958760" y="4720775"/>
            <a:ext cx="446434" cy="290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54" name="Прямая соединительная линия 1053">
            <a:extLst>
              <a:ext uri="{FF2B5EF4-FFF2-40B4-BE49-F238E27FC236}">
                <a16:creationId xmlns:a16="http://schemas.microsoft.com/office/drawing/2014/main" id="{996FB031-8AEA-4434-BFB1-31C4415F593C}"/>
              </a:ext>
            </a:extLst>
          </p:cNvPr>
          <p:cNvCxnSpPr>
            <a:cxnSpLocks/>
          </p:cNvCxnSpPr>
          <p:nvPr/>
        </p:nvCxnSpPr>
        <p:spPr>
          <a:xfrm flipV="1">
            <a:off x="7958760" y="4271778"/>
            <a:ext cx="0" cy="44899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A8E4F90-E675-48C1-97BD-46FDDD2C0577}"/>
              </a:ext>
            </a:extLst>
          </p:cNvPr>
          <p:cNvSpPr txBox="1"/>
          <p:nvPr/>
        </p:nvSpPr>
        <p:spPr>
          <a:xfrm>
            <a:off x="6815579" y="2995875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да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D99DCBE-2EBD-4FDD-AC08-FD4C520331E5}"/>
              </a:ext>
            </a:extLst>
          </p:cNvPr>
          <p:cNvSpPr txBox="1"/>
          <p:nvPr/>
        </p:nvSpPr>
        <p:spPr>
          <a:xfrm>
            <a:off x="8384253" y="3401321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да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A1536B-7823-4EE3-BF07-B2BF496456C8}"/>
              </a:ext>
            </a:extLst>
          </p:cNvPr>
          <p:cNvSpPr txBox="1"/>
          <p:nvPr/>
        </p:nvSpPr>
        <p:spPr>
          <a:xfrm>
            <a:off x="4134794" y="3415388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да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76F4FAA-8B92-4829-94C3-93ACBB612B6F}"/>
              </a:ext>
            </a:extLst>
          </p:cNvPr>
          <p:cNvSpPr txBox="1"/>
          <p:nvPr/>
        </p:nvSpPr>
        <p:spPr>
          <a:xfrm>
            <a:off x="5657508" y="3911905"/>
            <a:ext cx="39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7030A0"/>
                </a:solidFill>
              </a:rPr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308665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13</a:t>
            </a:fld>
            <a:endParaRPr lang="ru-RU" dirty="0"/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EE9C1E3-7667-4A14-8CF2-1B121E7691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7331110"/>
              </p:ext>
            </p:extLst>
          </p:nvPr>
        </p:nvGraphicFramePr>
        <p:xfrm>
          <a:off x="1051919" y="1981200"/>
          <a:ext cx="3328988" cy="245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A76F1DC0-51DE-4B3A-AE72-C2F6394024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757482"/>
              </p:ext>
            </p:extLst>
          </p:nvPr>
        </p:nvGraphicFramePr>
        <p:xfrm>
          <a:off x="4380907" y="1981200"/>
          <a:ext cx="3328988" cy="245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A40344A2-F775-4236-A9F0-2FE79BB3C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3175885"/>
              </p:ext>
            </p:extLst>
          </p:nvPr>
        </p:nvGraphicFramePr>
        <p:xfrm>
          <a:off x="7709895" y="1990971"/>
          <a:ext cx="3328988" cy="2447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A220B20-BB10-44BC-B0C1-4F3A1D94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662" y="-19842"/>
            <a:ext cx="9218280" cy="1054160"/>
          </a:xfrm>
        </p:spPr>
        <p:txBody>
          <a:bodyPr rtlCol="0">
            <a:normAutofit/>
          </a:bodyPr>
          <a:lstStyle/>
          <a:p>
            <a:r>
              <a:rPr lang="ru-RU" sz="2600" dirty="0"/>
              <a:t>ОБЗОР </a:t>
            </a:r>
            <a:r>
              <a:rPr lang="ru-RU" sz="2000" dirty="0"/>
              <a:t>нагрузки</a:t>
            </a:r>
            <a:r>
              <a:rPr lang="ru-RU" sz="2600" dirty="0"/>
              <a:t> </a:t>
            </a:r>
            <a:r>
              <a:rPr lang="ru-RU" sz="2000" dirty="0"/>
              <a:t>серверов 5-7 сентября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DE31C-0948-4330-8762-942DBCA2EE7C}"/>
              </a:ext>
            </a:extLst>
          </p:cNvPr>
          <p:cNvSpPr txBox="1"/>
          <p:nvPr/>
        </p:nvSpPr>
        <p:spPr>
          <a:xfrm>
            <a:off x="1051919" y="1299616"/>
            <a:ext cx="379179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обработки платежей через 1 сервер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Кол-во		                      секунды</a:t>
            </a:r>
          </a:p>
          <a:p>
            <a:endParaRPr lang="ru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E22848-21DF-41FB-A3C1-5B7AC0BD4A22}"/>
              </a:ext>
            </a:extLst>
          </p:cNvPr>
          <p:cNvSpPr txBox="1"/>
          <p:nvPr/>
        </p:nvSpPr>
        <p:spPr>
          <a:xfrm>
            <a:off x="4380907" y="1297477"/>
            <a:ext cx="379179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/>
              <a:t>обработки платежей </a:t>
            </a:r>
            <a:r>
              <a:rPr lang="ru-RU" sz="1500" dirty="0"/>
              <a:t>через 2 сервер и кассира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Кол-во		                      секунды</a:t>
            </a:r>
          </a:p>
          <a:p>
            <a:endParaRPr lang="ru-RU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498C97-FF7B-4C77-A7D4-9DE18CA3FDB2}"/>
              </a:ext>
            </a:extLst>
          </p:cNvPr>
          <p:cNvSpPr txBox="1"/>
          <p:nvPr/>
        </p:nvSpPr>
        <p:spPr>
          <a:xfrm>
            <a:off x="7709895" y="1298999"/>
            <a:ext cx="379179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обработки платежей через 2 сервер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 и кассира и картой лояльности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Кол-во		                      секунды</a:t>
            </a:r>
          </a:p>
          <a:p>
            <a:endParaRPr lang="ru-RU" sz="160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B1220E1-BEE3-41FD-A894-3215DBD47BD1}"/>
              </a:ext>
            </a:extLst>
          </p:cNvPr>
          <p:cNvSpPr/>
          <p:nvPr/>
        </p:nvSpPr>
        <p:spPr>
          <a:xfrm>
            <a:off x="8323699" y="4878228"/>
            <a:ext cx="2578788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500" dirty="0">
                <a:solidFill>
                  <a:schemeClr val="accent1">
                    <a:lumMod val="50000"/>
                  </a:schemeClr>
                </a:solidFill>
              </a:rPr>
              <a:t>процентный </a:t>
            </a:r>
            <a:r>
              <a:rPr lang="ru-RU" sz="1600" dirty="0">
                <a:solidFill>
                  <a:srgbClr val="7030A0"/>
                </a:solidFill>
              </a:rPr>
              <a:t>прирост 42,5%</a:t>
            </a:r>
            <a:endParaRPr lang="ru-RU" sz="1600" b="1" dirty="0">
              <a:ln w="0"/>
              <a:solidFill>
                <a:srgbClr val="7030A0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ADA9D49-B9F2-4921-9356-F8967F41F096}"/>
              </a:ext>
            </a:extLst>
          </p:cNvPr>
          <p:cNvSpPr/>
          <p:nvPr/>
        </p:nvSpPr>
        <p:spPr>
          <a:xfrm>
            <a:off x="8324850" y="5192104"/>
            <a:ext cx="2578788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процентный </a:t>
            </a:r>
            <a:r>
              <a:rPr lang="ru-RU" sz="1600" dirty="0">
                <a:ln w="0"/>
                <a:solidFill>
                  <a:srgbClr val="FFC000"/>
                </a:solidFill>
              </a:rPr>
              <a:t>прирост</a:t>
            </a:r>
            <a:r>
              <a:rPr lang="ru-RU" sz="1600" dirty="0">
                <a:ln w="0"/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600" dirty="0">
                <a:ln w="0"/>
                <a:solidFill>
                  <a:srgbClr val="FFC000"/>
                </a:solidFill>
              </a:rPr>
              <a:t>69,1% 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3FF98D6F-A1F8-4BAF-AFE5-A8717E1B675F}"/>
              </a:ext>
            </a:extLst>
          </p:cNvPr>
          <p:cNvSpPr/>
          <p:nvPr/>
        </p:nvSpPr>
        <p:spPr>
          <a:xfrm>
            <a:off x="8324850" y="5507323"/>
            <a:ext cx="2577635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процентный </a:t>
            </a:r>
            <a:r>
              <a:rPr lang="ru-RU" sz="1500" dirty="0">
                <a:ln w="0"/>
                <a:solidFill>
                  <a:srgbClr val="FF0000"/>
                </a:solidFill>
              </a:rPr>
              <a:t>прирост</a:t>
            </a:r>
            <a:r>
              <a:rPr lang="ru-RU" sz="15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500" dirty="0">
                <a:ln w="0"/>
                <a:solidFill>
                  <a:srgbClr val="FF0000"/>
                </a:solidFill>
              </a:rPr>
              <a:t>23,59%</a:t>
            </a:r>
            <a:r>
              <a:rPr lang="ru-RU" sz="15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51A6FC2-A110-4ADF-A71F-77F1AB37E788}"/>
              </a:ext>
            </a:extLst>
          </p:cNvPr>
          <p:cNvSpPr txBox="1"/>
          <p:nvPr/>
        </p:nvSpPr>
        <p:spPr>
          <a:xfrm>
            <a:off x="912945" y="4156159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4F2290-2D62-406F-8A63-2F091ADBC79B}"/>
              </a:ext>
            </a:extLst>
          </p:cNvPr>
          <p:cNvSpPr txBox="1"/>
          <p:nvPr/>
        </p:nvSpPr>
        <p:spPr>
          <a:xfrm rot="16200000">
            <a:off x="-118977" y="2272848"/>
            <a:ext cx="226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транзакции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BF9162-AB34-4E13-9291-8700BA344FED}"/>
              </a:ext>
            </a:extLst>
          </p:cNvPr>
          <p:cNvSpPr txBox="1"/>
          <p:nvPr/>
        </p:nvSpPr>
        <p:spPr>
          <a:xfrm rot="16200000">
            <a:off x="9907511" y="2292453"/>
            <a:ext cx="226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продолжительность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1FC28C9-0907-4C5C-93C6-23291FDEA19D}"/>
              </a:ext>
            </a:extLst>
          </p:cNvPr>
          <p:cNvSpPr/>
          <p:nvPr/>
        </p:nvSpPr>
        <p:spPr>
          <a:xfrm>
            <a:off x="1051920" y="5821199"/>
            <a:ext cx="9850566" cy="253916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  <a:latin typeface="Franklin Gothic Medium" panose="020B0603020102020204" pitchFamily="34" charset="0"/>
              </a:rPr>
              <a:t>Вывод: Технические сбои  с 05-07 сентября повлекли за собой прирост средней длительности платежей. </a:t>
            </a:r>
            <a:endParaRPr lang="ru-RU" sz="1600" dirty="0">
              <a:ln w="0"/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CA79E704-F820-4B00-9614-D65CC1E94BDC}"/>
              </a:ext>
            </a:extLst>
          </p:cNvPr>
          <p:cNvSpPr/>
          <p:nvPr/>
        </p:nvSpPr>
        <p:spPr>
          <a:xfrm>
            <a:off x="1051919" y="4878228"/>
            <a:ext cx="6025156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50000"/>
                  </a:schemeClr>
                </a:solidFill>
              </a:rPr>
              <a:t>5 сентября, </a:t>
            </a:r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1 сервер, </a:t>
            </a:r>
            <a:r>
              <a:rPr lang="ru-RU" sz="1500" dirty="0">
                <a:solidFill>
                  <a:schemeClr val="accent1">
                    <a:lumMod val="50000"/>
                  </a:schemeClr>
                </a:solidFill>
              </a:rPr>
              <a:t>непривычно долгая обработка платежей</a:t>
            </a:r>
            <a:endParaRPr lang="ru-RU" sz="1500" b="1" dirty="0">
              <a:ln w="0"/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D8F2416-A313-4D34-B189-DA2E73768C22}"/>
              </a:ext>
            </a:extLst>
          </p:cNvPr>
          <p:cNvSpPr/>
          <p:nvPr/>
        </p:nvSpPr>
        <p:spPr>
          <a:xfrm>
            <a:off x="1055582" y="5192104"/>
            <a:ext cx="6025156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7 сентября, 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2 сервер, </a:t>
            </a:r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резкое увеличение времени обработки платежей</a:t>
            </a:r>
            <a:endParaRPr lang="ru-RU" sz="1500" dirty="0">
              <a:ln w="0"/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C2E7819-8CFC-4D80-9FF7-156DC444FD48}"/>
              </a:ext>
            </a:extLst>
          </p:cNvPr>
          <p:cNvSpPr/>
          <p:nvPr/>
        </p:nvSpPr>
        <p:spPr>
          <a:xfrm>
            <a:off x="1051919" y="5507323"/>
            <a:ext cx="6025156" cy="2539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6 сентября, </a:t>
            </a:r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1 сервер, </a:t>
            </a:r>
            <a:r>
              <a:rPr lang="ru-RU" sz="1500" dirty="0">
                <a:ln w="0"/>
                <a:solidFill>
                  <a:schemeClr val="accent1">
                    <a:lumMod val="50000"/>
                  </a:schemeClr>
                </a:solidFill>
              </a:rPr>
              <a:t>обработка платежей дольше, чем 5 и 7 сентября</a:t>
            </a:r>
            <a:endParaRPr lang="ru-RU" sz="15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FFEB39-9869-4173-830C-7DF289936854}"/>
              </a:ext>
            </a:extLst>
          </p:cNvPr>
          <p:cNvSpPr txBox="1"/>
          <p:nvPr/>
        </p:nvSpPr>
        <p:spPr>
          <a:xfrm>
            <a:off x="1051919" y="1017755"/>
            <a:ext cx="4837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600" dirty="0"/>
              <a:t>Продолжительность</a:t>
            </a:r>
          </a:p>
          <a:p>
            <a:endParaRPr lang="ru-RU" sz="1600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71243B3-F841-4C8D-9275-CCCFEC9FECAC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1051919" y="1310143"/>
            <a:ext cx="9850566" cy="2277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Стрелка: вверх 34">
            <a:extLst>
              <a:ext uri="{FF2B5EF4-FFF2-40B4-BE49-F238E27FC236}">
                <a16:creationId xmlns:a16="http://schemas.microsoft.com/office/drawing/2014/main" id="{C0E2C097-1BB1-4FB8-ABDB-A2716071289B}"/>
              </a:ext>
            </a:extLst>
          </p:cNvPr>
          <p:cNvSpPr/>
          <p:nvPr/>
        </p:nvSpPr>
        <p:spPr>
          <a:xfrm>
            <a:off x="8108108" y="4992079"/>
            <a:ext cx="129180" cy="638175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14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478756" y="29143"/>
            <a:ext cx="76271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</a:t>
            </a:r>
            <a:r>
              <a:rPr lang="ru-RU" sz="2600" dirty="0"/>
              <a:t> </a:t>
            </a:r>
            <a:r>
              <a:rPr lang="ru-RU" sz="2000" dirty="0"/>
              <a:t>маркетинговой акции 7 сентября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02CD00-7C99-4BE1-9971-4A528E115E4A}"/>
              </a:ext>
            </a:extLst>
          </p:cNvPr>
          <p:cNvSpPr/>
          <p:nvPr/>
        </p:nvSpPr>
        <p:spPr>
          <a:xfrm>
            <a:off x="1142556" y="5957816"/>
            <a:ext cx="3833813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Прирост выручки 5069497,14руб.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B115F4B-3044-41F7-B039-B8A9D4EDB52F}"/>
              </a:ext>
            </a:extLst>
          </p:cNvPr>
          <p:cNvSpPr/>
          <p:nvPr/>
        </p:nvSpPr>
        <p:spPr>
          <a:xfrm>
            <a:off x="1147762" y="5351866"/>
            <a:ext cx="554401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Увеличен средний чек на 1484,48руб. на 8,05%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AB42D16-ED20-48C3-B593-AFCA663B30F5}"/>
              </a:ext>
            </a:extLst>
          </p:cNvPr>
          <p:cNvSpPr/>
          <p:nvPr/>
        </p:nvSpPr>
        <p:spPr>
          <a:xfrm>
            <a:off x="1147762" y="5048754"/>
            <a:ext cx="2667001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 акции 7 сентября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AAF5CA77-AF24-4F06-AA6F-7C1ACB9381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495666"/>
              </p:ext>
            </p:extLst>
          </p:nvPr>
        </p:nvGraphicFramePr>
        <p:xfrm>
          <a:off x="4191000" y="1921089"/>
          <a:ext cx="6500812" cy="304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DC07A0E-1B87-4A86-B52B-CE60C6F19D23}"/>
              </a:ext>
            </a:extLst>
          </p:cNvPr>
          <p:cNvSpPr txBox="1"/>
          <p:nvPr/>
        </p:nvSpPr>
        <p:spPr>
          <a:xfrm>
            <a:off x="4191000" y="1474615"/>
            <a:ext cx="37917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latin typeface="Franklin Gothic Medium" panose="020B0603020102020204" pitchFamily="34" charset="0"/>
              </a:rPr>
              <a:t>Средний чек в динамике с 5 по 7 сентября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сумма		</a:t>
            </a:r>
            <a:endParaRPr lang="ru-RU" sz="1600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A9E88FE-6AD5-478A-967C-01274788329F}"/>
              </a:ext>
            </a:extLst>
          </p:cNvPr>
          <p:cNvSpPr/>
          <p:nvPr/>
        </p:nvSpPr>
        <p:spPr>
          <a:xfrm>
            <a:off x="1142556" y="5655851"/>
            <a:ext cx="6210303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Покупатели получили вознаграждения на сумму 2418500руб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BAAE7D5-794C-42AB-A178-9BAA74DF340A}"/>
              </a:ext>
            </a:extLst>
          </p:cNvPr>
          <p:cNvSpPr/>
          <p:nvPr/>
        </p:nvSpPr>
        <p:spPr>
          <a:xfrm>
            <a:off x="5067299" y="5955242"/>
            <a:ext cx="5544011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Прибыль от проведения акции 2650997руб.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E99F39A-64F6-4456-8D22-9D58FE958B24}"/>
              </a:ext>
            </a:extLst>
          </p:cNvPr>
          <p:cNvSpPr txBox="1"/>
          <p:nvPr/>
        </p:nvSpPr>
        <p:spPr>
          <a:xfrm>
            <a:off x="4191000" y="4674991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26" name="Семиугольник 25">
            <a:extLst>
              <a:ext uri="{FF2B5EF4-FFF2-40B4-BE49-F238E27FC236}">
                <a16:creationId xmlns:a16="http://schemas.microsoft.com/office/drawing/2014/main" id="{728098A6-6CF5-4EDA-AC6F-AFAAEAEF1B66}"/>
              </a:ext>
            </a:extLst>
          </p:cNvPr>
          <p:cNvSpPr/>
          <p:nvPr/>
        </p:nvSpPr>
        <p:spPr>
          <a:xfrm>
            <a:off x="5339198" y="4884927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емиугольник 26">
            <a:extLst>
              <a:ext uri="{FF2B5EF4-FFF2-40B4-BE49-F238E27FC236}">
                <a16:creationId xmlns:a16="http://schemas.microsoft.com/office/drawing/2014/main" id="{13C34514-8DCD-4B36-8E5D-C599C6C40BCC}"/>
              </a:ext>
            </a:extLst>
          </p:cNvPr>
          <p:cNvSpPr/>
          <p:nvPr/>
        </p:nvSpPr>
        <p:spPr>
          <a:xfrm>
            <a:off x="7312374" y="4884927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447313-8F95-4A2A-AEC2-BBE428E573DD}"/>
              </a:ext>
            </a:extLst>
          </p:cNvPr>
          <p:cNvSpPr txBox="1"/>
          <p:nvPr/>
        </p:nvSpPr>
        <p:spPr>
          <a:xfrm>
            <a:off x="5606442" y="4810014"/>
            <a:ext cx="1545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кол-во транзакций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16D54-FA26-433E-949D-BD9A65F44910}"/>
              </a:ext>
            </a:extLst>
          </p:cNvPr>
          <p:cNvSpPr txBox="1"/>
          <p:nvPr/>
        </p:nvSpPr>
        <p:spPr>
          <a:xfrm>
            <a:off x="7488215" y="4810014"/>
            <a:ext cx="18748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- сумма среднего  чека </a:t>
            </a:r>
          </a:p>
        </p:txBody>
      </p:sp>
    </p:spTree>
    <p:extLst>
      <p:ext uri="{BB962C8B-B14F-4D97-AF65-F5344CB8AC3E}">
        <p14:creationId xmlns:p14="http://schemas.microsoft.com/office/powerpoint/2010/main" val="333934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15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478756" y="29143"/>
            <a:ext cx="76271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</a:t>
            </a:r>
            <a:r>
              <a:rPr lang="ru-RU" sz="2600" dirty="0"/>
              <a:t> </a:t>
            </a:r>
            <a:r>
              <a:rPr lang="ru-RU" sz="2000" dirty="0"/>
              <a:t>скидки по программе лояльности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02CD00-7C99-4BE1-9971-4A528E115E4A}"/>
              </a:ext>
            </a:extLst>
          </p:cNvPr>
          <p:cNvSpPr/>
          <p:nvPr/>
        </p:nvSpPr>
        <p:spPr>
          <a:xfrm>
            <a:off x="1142555" y="5957816"/>
            <a:ext cx="4848669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потери компании при применение скидки </a:t>
            </a:r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- 4000951,3р.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B115F4B-3044-41F7-B039-B8A9D4EDB52F}"/>
              </a:ext>
            </a:extLst>
          </p:cNvPr>
          <p:cNvSpPr/>
          <p:nvPr/>
        </p:nvSpPr>
        <p:spPr>
          <a:xfrm>
            <a:off x="1147763" y="5351866"/>
            <a:ext cx="4838918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средневзвешенная скидка по всем дням	- 131,65р.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AB42D16-ED20-48C3-B593-AFCA663B30F5}"/>
              </a:ext>
            </a:extLst>
          </p:cNvPr>
          <p:cNvSpPr/>
          <p:nvPr/>
        </p:nvSpPr>
        <p:spPr>
          <a:xfrm>
            <a:off x="1147762" y="5048754"/>
            <a:ext cx="3786585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действующая скидочная система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07A0E-1B87-4A86-B52B-CE60C6F19D23}"/>
              </a:ext>
            </a:extLst>
          </p:cNvPr>
          <p:cNvSpPr txBox="1"/>
          <p:nvPr/>
        </p:nvSpPr>
        <p:spPr>
          <a:xfrm>
            <a:off x="1147762" y="1437461"/>
            <a:ext cx="37917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Усредненная скидка с 5-7 сентября  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скидка		</a:t>
            </a:r>
            <a:endParaRPr lang="ru-RU" sz="1600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A9E88FE-6AD5-478A-967C-01274788329F}"/>
              </a:ext>
            </a:extLst>
          </p:cNvPr>
          <p:cNvSpPr/>
          <p:nvPr/>
        </p:nvSpPr>
        <p:spPr>
          <a:xfrm>
            <a:off x="1142556" y="5655851"/>
            <a:ext cx="4844125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процентный прирост			- 6,86%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E99F39A-64F6-4456-8D22-9D58FE958B24}"/>
              </a:ext>
            </a:extLst>
          </p:cNvPr>
          <p:cNvSpPr txBox="1"/>
          <p:nvPr/>
        </p:nvSpPr>
        <p:spPr>
          <a:xfrm>
            <a:off x="1136394" y="4439996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26" name="Семиугольник 25">
            <a:extLst>
              <a:ext uri="{FF2B5EF4-FFF2-40B4-BE49-F238E27FC236}">
                <a16:creationId xmlns:a16="http://schemas.microsoft.com/office/drawing/2014/main" id="{728098A6-6CF5-4EDA-AC6F-AFAAEAEF1B66}"/>
              </a:ext>
            </a:extLst>
          </p:cNvPr>
          <p:cNvSpPr/>
          <p:nvPr/>
        </p:nvSpPr>
        <p:spPr>
          <a:xfrm>
            <a:off x="2094908" y="4627710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емиугольник 26">
            <a:extLst>
              <a:ext uri="{FF2B5EF4-FFF2-40B4-BE49-F238E27FC236}">
                <a16:creationId xmlns:a16="http://schemas.microsoft.com/office/drawing/2014/main" id="{13C34514-8DCD-4B36-8E5D-C599C6C40BCC}"/>
              </a:ext>
            </a:extLst>
          </p:cNvPr>
          <p:cNvSpPr/>
          <p:nvPr/>
        </p:nvSpPr>
        <p:spPr>
          <a:xfrm>
            <a:off x="4500237" y="4628963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447313-8F95-4A2A-AEC2-BBE428E573DD}"/>
              </a:ext>
            </a:extLst>
          </p:cNvPr>
          <p:cNvSpPr txBox="1"/>
          <p:nvPr/>
        </p:nvSpPr>
        <p:spPr>
          <a:xfrm>
            <a:off x="4567502" y="4566954"/>
            <a:ext cx="1545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кол-во транзакций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16D54-FA26-433E-949D-BD9A65F44910}"/>
              </a:ext>
            </a:extLst>
          </p:cNvPr>
          <p:cNvSpPr txBox="1"/>
          <p:nvPr/>
        </p:nvSpPr>
        <p:spPr>
          <a:xfrm>
            <a:off x="2177295" y="4544403"/>
            <a:ext cx="2757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Средне</a:t>
            </a:r>
            <a:r>
              <a:rPr lang="en-US" sz="1050" b="1" dirty="0"/>
              <a:t>e </a:t>
            </a:r>
            <a:r>
              <a:rPr lang="ru-RU" sz="1050" b="1" dirty="0"/>
              <a:t>по программе  лояльности  </a:t>
            </a:r>
          </a:p>
        </p:txBody>
      </p:sp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DC2FFCC0-0E02-4EB8-8B82-F7BD311A9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7253895"/>
              </p:ext>
            </p:extLst>
          </p:nvPr>
        </p:nvGraphicFramePr>
        <p:xfrm>
          <a:off x="1142556" y="2136924"/>
          <a:ext cx="4664870" cy="257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950F02E-D9A6-455E-B019-800A3206B863}"/>
              </a:ext>
            </a:extLst>
          </p:cNvPr>
          <p:cNvSpPr txBox="1"/>
          <p:nvPr/>
        </p:nvSpPr>
        <p:spPr>
          <a:xfrm>
            <a:off x="5889813" y="1443249"/>
            <a:ext cx="45718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Сумма скидки пропорционально округлённому 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размеру скидки 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сумма				</a:t>
            </a:r>
            <a:endParaRPr lang="ru-RU" sz="1600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EBC1C31-1F90-4A8C-BA8A-3A1FD7996003}"/>
              </a:ext>
            </a:extLst>
          </p:cNvPr>
          <p:cNvSpPr/>
          <p:nvPr/>
        </p:nvSpPr>
        <p:spPr>
          <a:xfrm>
            <a:off x="6205318" y="5260073"/>
            <a:ext cx="4539510" cy="4328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</a:rPr>
              <a:t>Основные потери для компании представляет скидка более 3%. 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D3DBB62-E0C3-449F-9A65-7EB80132DFFC}"/>
              </a:ext>
            </a:extLst>
          </p:cNvPr>
          <p:cNvSpPr/>
          <p:nvPr/>
        </p:nvSpPr>
        <p:spPr>
          <a:xfrm>
            <a:off x="6205319" y="5750400"/>
            <a:ext cx="4539509" cy="4613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Сумма по этой скидки чуть уступает общей сумме всех остальных скидок.</a:t>
            </a:r>
            <a:endParaRPr lang="ru-RU" sz="1600" dirty="0">
              <a:solidFill>
                <a:schemeClr val="accent1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2" name="Диаграмма 31">
            <a:extLst>
              <a:ext uri="{FF2B5EF4-FFF2-40B4-BE49-F238E27FC236}">
                <a16:creationId xmlns:a16="http://schemas.microsoft.com/office/drawing/2014/main" id="{51830A66-E8F2-4DD9-B6E6-B89211DC1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775717"/>
              </p:ext>
            </p:extLst>
          </p:nvPr>
        </p:nvGraphicFramePr>
        <p:xfrm>
          <a:off x="5889813" y="2210637"/>
          <a:ext cx="4781536" cy="2456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F1976EC3-D35F-4F13-9128-7612C302AF66}"/>
              </a:ext>
            </a:extLst>
          </p:cNvPr>
          <p:cNvSpPr txBox="1"/>
          <p:nvPr/>
        </p:nvSpPr>
        <p:spPr>
          <a:xfrm>
            <a:off x="6972831" y="4472028"/>
            <a:ext cx="3584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 1%                           2%	     3%           	         4%</a:t>
            </a:r>
            <a:endParaRPr lang="ru-RU" sz="1050" b="1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EE90747-5015-4CF4-ABFC-80B680987355}"/>
              </a:ext>
            </a:extLst>
          </p:cNvPr>
          <p:cNvCxnSpPr>
            <a:cxnSpLocks/>
          </p:cNvCxnSpPr>
          <p:nvPr/>
        </p:nvCxnSpPr>
        <p:spPr>
          <a:xfrm>
            <a:off x="6529892" y="4489233"/>
            <a:ext cx="402787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638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16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478756" y="29143"/>
            <a:ext cx="76271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</a:t>
            </a:r>
            <a:r>
              <a:rPr lang="ru-RU" sz="2600" dirty="0"/>
              <a:t> </a:t>
            </a:r>
            <a:r>
              <a:rPr lang="ru-RU" sz="2000" dirty="0"/>
              <a:t>скидки по программе лояльности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B115F4B-3044-41F7-B039-B8A9D4EDB52F}"/>
              </a:ext>
            </a:extLst>
          </p:cNvPr>
          <p:cNvSpPr/>
          <p:nvPr/>
        </p:nvSpPr>
        <p:spPr>
          <a:xfrm>
            <a:off x="1220649" y="5655851"/>
            <a:ext cx="3852862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сумма по скидки от 2-3% выросла вдвое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07A0E-1B87-4A86-B52B-CE60C6F19D23}"/>
              </a:ext>
            </a:extLst>
          </p:cNvPr>
          <p:cNvSpPr txBox="1"/>
          <p:nvPr/>
        </p:nvSpPr>
        <p:spPr>
          <a:xfrm>
            <a:off x="1119984" y="1532476"/>
            <a:ext cx="379179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Сумма новой скидки пропорционально пороговым интервалам скидок</a:t>
            </a:r>
          </a:p>
          <a:p>
            <a:pPr lvl="0"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000" dirty="0"/>
              <a:t>сумма</a:t>
            </a:r>
            <a:r>
              <a:rPr lang="ru-RU" sz="1500" dirty="0"/>
              <a:t> 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		</a:t>
            </a:r>
            <a:endParaRPr lang="ru-RU" sz="1600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A9E88FE-6AD5-478A-967C-01274788329F}"/>
              </a:ext>
            </a:extLst>
          </p:cNvPr>
          <p:cNvSpPr/>
          <p:nvPr/>
        </p:nvSpPr>
        <p:spPr>
          <a:xfrm>
            <a:off x="1220649" y="5957816"/>
            <a:ext cx="3852862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сумма скидки более 3% незначительная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E99F39A-64F6-4456-8D22-9D58FE958B24}"/>
              </a:ext>
            </a:extLst>
          </p:cNvPr>
          <p:cNvSpPr txBox="1"/>
          <p:nvPr/>
        </p:nvSpPr>
        <p:spPr>
          <a:xfrm>
            <a:off x="5892568" y="4449172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  <p:sp>
        <p:nvSpPr>
          <p:cNvPr id="26" name="Семиугольник 25">
            <a:extLst>
              <a:ext uri="{FF2B5EF4-FFF2-40B4-BE49-F238E27FC236}">
                <a16:creationId xmlns:a16="http://schemas.microsoft.com/office/drawing/2014/main" id="{728098A6-6CF5-4EDA-AC6F-AFAAEAEF1B66}"/>
              </a:ext>
            </a:extLst>
          </p:cNvPr>
          <p:cNvSpPr/>
          <p:nvPr/>
        </p:nvSpPr>
        <p:spPr>
          <a:xfrm>
            <a:off x="6719180" y="4666604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емиугольник 26">
            <a:extLst>
              <a:ext uri="{FF2B5EF4-FFF2-40B4-BE49-F238E27FC236}">
                <a16:creationId xmlns:a16="http://schemas.microsoft.com/office/drawing/2014/main" id="{13C34514-8DCD-4B36-8E5D-C599C6C40BCC}"/>
              </a:ext>
            </a:extLst>
          </p:cNvPr>
          <p:cNvSpPr/>
          <p:nvPr/>
        </p:nvSpPr>
        <p:spPr>
          <a:xfrm>
            <a:off x="9207626" y="4668097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447313-8F95-4A2A-AEC2-BBE428E573DD}"/>
              </a:ext>
            </a:extLst>
          </p:cNvPr>
          <p:cNvSpPr txBox="1"/>
          <p:nvPr/>
        </p:nvSpPr>
        <p:spPr>
          <a:xfrm>
            <a:off x="9362701" y="4584615"/>
            <a:ext cx="1545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кол-во транзакций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16D54-FA26-433E-949D-BD9A65F44910}"/>
              </a:ext>
            </a:extLst>
          </p:cNvPr>
          <p:cNvSpPr txBox="1"/>
          <p:nvPr/>
        </p:nvSpPr>
        <p:spPr>
          <a:xfrm>
            <a:off x="6850069" y="4578881"/>
            <a:ext cx="27570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Средне</a:t>
            </a:r>
            <a:r>
              <a:rPr lang="en-US" sz="1050" b="1" dirty="0"/>
              <a:t>e </a:t>
            </a:r>
            <a:r>
              <a:rPr lang="ru-RU" sz="1050" b="1" dirty="0"/>
              <a:t>по программе  лояльности  </a:t>
            </a:r>
          </a:p>
        </p:txBody>
      </p:sp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id="{52EAF960-06A2-4D45-ACD9-E3AD42CF1F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003317"/>
              </p:ext>
            </p:extLst>
          </p:nvPr>
        </p:nvGraphicFramePr>
        <p:xfrm>
          <a:off x="5896160" y="2140484"/>
          <a:ext cx="4664870" cy="2587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950F02E-D9A6-455E-B019-800A3206B863}"/>
              </a:ext>
            </a:extLst>
          </p:cNvPr>
          <p:cNvSpPr txBox="1"/>
          <p:nvPr/>
        </p:nvSpPr>
        <p:spPr>
          <a:xfrm>
            <a:off x="5896160" y="1570944"/>
            <a:ext cx="457181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Новая усредненная скидка с 5-7 сентября  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ru-RU" sz="1200" dirty="0"/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скидка				</a:t>
            </a:r>
            <a:endParaRPr lang="ru-RU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C0F0D2-34C6-4EF8-9539-D35BD4514927}"/>
              </a:ext>
            </a:extLst>
          </p:cNvPr>
          <p:cNvSpPr txBox="1"/>
          <p:nvPr/>
        </p:nvSpPr>
        <p:spPr>
          <a:xfrm rot="16200000">
            <a:off x="9473000" y="3168022"/>
            <a:ext cx="226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Кол-во транзакций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16BF141-234B-48BB-967D-0828F1B1A16E}"/>
              </a:ext>
            </a:extLst>
          </p:cNvPr>
          <p:cNvSpPr/>
          <p:nvPr/>
        </p:nvSpPr>
        <p:spPr>
          <a:xfrm>
            <a:off x="6958243" y="5047881"/>
            <a:ext cx="3786585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новая скидочная система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EBC1C31-1F90-4A8C-BA8A-3A1FD7996003}"/>
              </a:ext>
            </a:extLst>
          </p:cNvPr>
          <p:cNvSpPr/>
          <p:nvPr/>
        </p:nvSpPr>
        <p:spPr>
          <a:xfrm>
            <a:off x="5996430" y="5351866"/>
            <a:ext cx="4748398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средневзвешенная скидка по всем дням</a:t>
            </a:r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	- 114,61р.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167C3F04-1BB6-4CCC-8E67-A545843F7FC3}"/>
              </a:ext>
            </a:extLst>
          </p:cNvPr>
          <p:cNvSpPr/>
          <p:nvPr/>
        </p:nvSpPr>
        <p:spPr>
          <a:xfrm>
            <a:off x="5991224" y="5655851"/>
            <a:ext cx="4753604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процентный прирост	</a:t>
            </a:r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		   - 7,00%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D3DBB62-E0C3-449F-9A65-7EB80132DFFC}"/>
              </a:ext>
            </a:extLst>
          </p:cNvPr>
          <p:cNvSpPr/>
          <p:nvPr/>
        </p:nvSpPr>
        <p:spPr>
          <a:xfrm>
            <a:off x="5991225" y="5957816"/>
            <a:ext cx="4753604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потери компании при новой скидки        </a:t>
            </a:r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- 3483069,06р.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2E3CB3C8-E61C-4D11-B487-5D8A20C9B32C}"/>
              </a:ext>
            </a:extLst>
          </p:cNvPr>
          <p:cNvSpPr/>
          <p:nvPr/>
        </p:nvSpPr>
        <p:spPr>
          <a:xfrm>
            <a:off x="1142555" y="1208692"/>
            <a:ext cx="603947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смоделировали ситуацию - все скидки выше 3% снижаем на 1 </a:t>
            </a:r>
            <a:r>
              <a:rPr lang="ru-RU" sz="1600" dirty="0" err="1">
                <a:ln w="0"/>
                <a:solidFill>
                  <a:schemeClr val="accent1">
                    <a:lumMod val="25000"/>
                  </a:schemeClr>
                </a:solidFill>
              </a:rPr>
              <a:t>п.п</a:t>
            </a:r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</a:rPr>
              <a:t>. </a:t>
            </a:r>
          </a:p>
        </p:txBody>
      </p:sp>
      <p:graphicFrame>
        <p:nvGraphicFramePr>
          <p:cNvPr id="38" name="Диаграмма 37">
            <a:extLst>
              <a:ext uri="{FF2B5EF4-FFF2-40B4-BE49-F238E27FC236}">
                <a16:creationId xmlns:a16="http://schemas.microsoft.com/office/drawing/2014/main" id="{7896521F-0057-4C17-8D87-685A6B363D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977296"/>
              </p:ext>
            </p:extLst>
          </p:nvPr>
        </p:nvGraphicFramePr>
        <p:xfrm>
          <a:off x="1119984" y="2173046"/>
          <a:ext cx="4748398" cy="2563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TextBox 24">
            <a:extLst>
              <a:ext uri="{FF2B5EF4-FFF2-40B4-BE49-F238E27FC236}">
                <a16:creationId xmlns:a16="http://schemas.microsoft.com/office/drawing/2014/main" id="{2DC7A347-415F-484C-888D-E1E393677793}"/>
              </a:ext>
            </a:extLst>
          </p:cNvPr>
          <p:cNvSpPr txBox="1"/>
          <p:nvPr/>
        </p:nvSpPr>
        <p:spPr>
          <a:xfrm>
            <a:off x="1220649" y="4444885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b="1" dirty="0"/>
              <a:t>% </a:t>
            </a:r>
            <a:r>
              <a:rPr lang="ru-RU" sz="1050" dirty="0"/>
              <a:t>период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3D6BCBD4-AB77-44A4-87AB-7F2D16A939C1}"/>
              </a:ext>
            </a:extLst>
          </p:cNvPr>
          <p:cNvSpPr txBox="1"/>
          <p:nvPr/>
        </p:nvSpPr>
        <p:spPr>
          <a:xfrm>
            <a:off x="4191000" y="4674991"/>
            <a:ext cx="9891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/>
              <a:t>Дни сентября</a:t>
            </a:r>
            <a:endParaRPr lang="ru-RU" sz="1050" b="1" dirty="0"/>
          </a:p>
        </p:txBody>
      </p:sp>
    </p:spTree>
    <p:extLst>
      <p:ext uri="{BB962C8B-B14F-4D97-AF65-F5344CB8AC3E}">
        <p14:creationId xmlns:p14="http://schemas.microsoft.com/office/powerpoint/2010/main" val="1411486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175" y="622298"/>
            <a:ext cx="4082142" cy="585788"/>
          </a:xfrm>
        </p:spPr>
        <p:txBody>
          <a:bodyPr rtlCol="0">
            <a:normAutofit/>
          </a:bodyPr>
          <a:lstStyle/>
          <a:p>
            <a:pPr rtl="0"/>
            <a:r>
              <a:rPr lang="ru-RU" sz="2600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332" y="1481135"/>
            <a:ext cx="2623457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latin typeface="Franklin Gothic Medium" panose="020B0603020102020204" pitchFamily="34" charset="0"/>
              </a:rPr>
              <a:t>Технические сбои 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332" y="2557461"/>
            <a:ext cx="3238499" cy="514350"/>
          </a:xfrm>
        </p:spPr>
        <p:txBody>
          <a:bodyPr rtlCol="0"/>
          <a:lstStyle/>
          <a:p>
            <a:r>
              <a:rPr lang="ru-RU" dirty="0"/>
              <a:t>Проведение акции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2207" y="3633787"/>
            <a:ext cx="3661682" cy="514350"/>
          </a:xfrm>
        </p:spPr>
        <p:txBody>
          <a:bodyPr rtlCol="0"/>
          <a:lstStyle/>
          <a:p>
            <a:r>
              <a:rPr lang="ru-RU" dirty="0"/>
              <a:t>Экономия на скидках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4710114"/>
            <a:ext cx="3208564" cy="514350"/>
          </a:xfrm>
        </p:spPr>
        <p:txBody>
          <a:bodyPr rtlCol="0"/>
          <a:lstStyle/>
          <a:p>
            <a:r>
              <a:rPr lang="ru-RU" dirty="0"/>
              <a:t>Оптимизация</a:t>
            </a:r>
            <a:r>
              <a:rPr lang="ru-RU" b="1" dirty="0"/>
              <a:t> 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29817" y="2375677"/>
            <a:ext cx="7029078" cy="1010842"/>
          </a:xfrm>
        </p:spPr>
        <p:txBody>
          <a:bodyPr rtlCol="0">
            <a:noAutofit/>
          </a:bodyPr>
          <a:lstStyle/>
          <a:p>
            <a:r>
              <a:rPr lang="ru-RU" sz="1500" dirty="0">
                <a:latin typeface="+mn-lt"/>
              </a:rPr>
              <a:t>7 сентября маркетинговая акция дала суперуспешный результат  </a:t>
            </a:r>
          </a:p>
          <a:p>
            <a:r>
              <a:rPr lang="ru-RU" sz="1500" dirty="0">
                <a:latin typeface="+mn-lt"/>
              </a:rPr>
              <a:t>   </a:t>
            </a:r>
            <a:r>
              <a:rPr lang="ru-RU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</a:rPr>
              <a:t>прирост выручки 5069497,14р  в два раза больше чем затраты 2418500р.</a:t>
            </a:r>
            <a:endParaRPr lang="ru-RU" sz="1500" dirty="0">
              <a:latin typeface="+mn-lt"/>
            </a:endParaRPr>
          </a:p>
          <a:p>
            <a:r>
              <a:rPr lang="ru-RU" sz="1500" dirty="0">
                <a:latin typeface="+mn-lt"/>
              </a:rPr>
              <a:t>      прибыль от проведения акции 2650997руб</a:t>
            </a:r>
            <a:endParaRPr lang="ru-RU" sz="1500" dirty="0">
              <a:solidFill>
                <a:prstClr val="black">
                  <a:lumMod val="75000"/>
                  <a:lumOff val="25000"/>
                </a:prstClr>
              </a:solidFill>
              <a:latin typeface="+mn-lt"/>
            </a:endParaRPr>
          </a:p>
          <a:p>
            <a:pPr rtl="0"/>
            <a:r>
              <a:rPr lang="ru-RU" sz="1500" dirty="0">
                <a:latin typeface="+mn-lt"/>
              </a:rPr>
              <a:t>      </a:t>
            </a:r>
            <a:endParaRPr lang="ru-RU" sz="1500" b="1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4616" y="3452813"/>
            <a:ext cx="6115359" cy="1010842"/>
          </a:xfrm>
        </p:spPr>
        <p:txBody>
          <a:bodyPr rtlCol="0">
            <a:normAutofit/>
          </a:bodyPr>
          <a:lstStyle/>
          <a:p>
            <a:pPr lvl="0"/>
            <a:r>
              <a:rPr lang="ru-RU" sz="1500" dirty="0">
                <a:latin typeface="+mn-lt"/>
              </a:rPr>
              <a:t>потери компании при действующей системы скидок - 4000951,3р.</a:t>
            </a:r>
          </a:p>
          <a:p>
            <a:pPr lvl="0">
              <a:spcBef>
                <a:spcPts val="600"/>
              </a:spcBef>
            </a:pPr>
            <a:r>
              <a:rPr lang="ru-RU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</a:rPr>
              <a:t>   экономия после модерации скидки «более 3%» – 517882,14р.</a:t>
            </a:r>
            <a:endParaRPr lang="ru-RU" sz="1500" dirty="0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ru-RU" sz="1500" dirty="0">
                <a:latin typeface="+mn-lt"/>
              </a:rPr>
              <a:t>      при одинаковом процентном приросте – 7%	 </a:t>
            </a:r>
            <a:endParaRPr lang="ru-RU" sz="1500" dirty="0">
              <a:solidFill>
                <a:schemeClr val="tx1"/>
              </a:solidFill>
              <a:latin typeface="+mn-lt"/>
            </a:endParaRPr>
          </a:p>
          <a:p>
            <a:pPr lvl="0">
              <a:spcBef>
                <a:spcPts val="600"/>
              </a:spcBef>
            </a:pPr>
            <a:endParaRPr lang="ru-RU" sz="1500" dirty="0">
              <a:latin typeface="+mn-lt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34075" y="4773793"/>
            <a:ext cx="5539095" cy="1010842"/>
          </a:xfrm>
        </p:spPr>
        <p:txBody>
          <a:bodyPr rtlCol="0"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1500" dirty="0">
                <a:latin typeface="+mn-lt"/>
              </a:rPr>
              <a:t>дополнительная прибыль!</a:t>
            </a:r>
          </a:p>
          <a:p>
            <a:pPr rtl="0"/>
            <a:endParaRPr lang="ru-RU" b="1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17</a:t>
            </a:fld>
            <a:endParaRPr lang="ru-RU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341C2E5-8043-429B-A2C0-0B82D5EFA144}"/>
              </a:ext>
            </a:extLst>
          </p:cNvPr>
          <p:cNvSpPr txBox="1">
            <a:spLocks/>
          </p:cNvSpPr>
          <p:nvPr/>
        </p:nvSpPr>
        <p:spPr>
          <a:xfrm>
            <a:off x="3970564" y="1264774"/>
            <a:ext cx="7588331" cy="1010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500" dirty="0">
                <a:latin typeface="+mn-lt"/>
              </a:rPr>
              <a:t>с 05-07 сентября повлекли за собой прирост средней длительности платежей</a:t>
            </a:r>
          </a:p>
          <a:p>
            <a:r>
              <a:rPr lang="ru-RU" sz="1500" dirty="0">
                <a:latin typeface="+mn-lt"/>
              </a:rPr>
              <a:t>   даже кратковременные сбои влекут задержки и риски,</a:t>
            </a:r>
          </a:p>
          <a:p>
            <a:r>
              <a:rPr lang="ru-RU" sz="1500" dirty="0">
                <a:latin typeface="+mn-lt"/>
              </a:rPr>
              <a:t>      а также потери в выручке, ухудшение клиентского опыта </a:t>
            </a:r>
          </a:p>
          <a:p>
            <a:endParaRPr lang="ru-RU" sz="1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0116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67" y="614935"/>
            <a:ext cx="5431971" cy="846301"/>
          </a:xfrm>
        </p:spPr>
        <p:txBody>
          <a:bodyPr rtlCol="0">
            <a:normAutofit/>
          </a:bodyPr>
          <a:lstStyle/>
          <a:p>
            <a:r>
              <a:rPr lang="ru-RU" sz="2600" dirty="0"/>
              <a:t>дашборд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87709" y="1282112"/>
            <a:ext cx="5431971" cy="1116306"/>
          </a:xfrm>
        </p:spPr>
        <p:txBody>
          <a:bodyPr rtlCol="0">
            <a:normAutofit/>
          </a:bodyPr>
          <a:lstStyle/>
          <a:p>
            <a:pPr rtl="0">
              <a:spcBef>
                <a:spcPts val="600"/>
              </a:spcBef>
            </a:pPr>
            <a:r>
              <a:rPr lang="ru-RU" sz="1500" noProof="1">
                <a:latin typeface="+mn-lt"/>
              </a:rPr>
              <a:t>Дашборд – это информационная панель </a:t>
            </a:r>
          </a:p>
          <a:p>
            <a:pPr rtl="0">
              <a:spcBef>
                <a:spcPts val="600"/>
              </a:spcBef>
            </a:pPr>
            <a:r>
              <a:rPr lang="ru-RU" sz="1500" noProof="1">
                <a:latin typeface="+mn-lt"/>
              </a:rPr>
              <a:t>показывает ключевые данные</a:t>
            </a:r>
          </a:p>
          <a:p>
            <a:pPr rtl="0">
              <a:spcBef>
                <a:spcPts val="600"/>
              </a:spcBef>
            </a:pPr>
            <a:r>
              <a:rPr lang="ru-RU" sz="1500" noProof="1">
                <a:latin typeface="+mn-lt"/>
              </a:rPr>
              <a:t>визуализирует графики, диаграмы, таблицы</a:t>
            </a:r>
          </a:p>
        </p:txBody>
      </p:sp>
      <p:sp>
        <p:nvSpPr>
          <p:cNvPr id="32" name="Дата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1847212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18</a:t>
            </a:fld>
            <a:endParaRPr lang="ru-RU" dirty="0"/>
          </a:p>
        </p:txBody>
      </p:sp>
      <p:graphicFrame>
        <p:nvGraphicFramePr>
          <p:cNvPr id="22" name="Chart 1" title="Диаграмма">
            <a:extLst>
              <a:ext uri="{FF2B5EF4-FFF2-40B4-BE49-F238E27FC236}">
                <a16:creationId xmlns:a16="http://schemas.microsoft.com/office/drawing/2014/main" id="{E5792C38-E125-4776-9B33-2205CA5F75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853132"/>
              </p:ext>
            </p:extLst>
          </p:nvPr>
        </p:nvGraphicFramePr>
        <p:xfrm>
          <a:off x="6511977" y="993850"/>
          <a:ext cx="4379880" cy="2462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" title="Диаграмма">
            <a:extLst>
              <a:ext uri="{FF2B5EF4-FFF2-40B4-BE49-F238E27FC236}">
                <a16:creationId xmlns:a16="http://schemas.microsoft.com/office/drawing/2014/main" id="{3AB39033-4E61-4C93-B7A6-1D92DF3D22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4398638"/>
              </p:ext>
            </p:extLst>
          </p:nvPr>
        </p:nvGraphicFramePr>
        <p:xfrm>
          <a:off x="5584744" y="3753053"/>
          <a:ext cx="5307113" cy="2462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3C0063D-4F67-42DE-B0E9-D614E19A2F4B}"/>
              </a:ext>
            </a:extLst>
          </p:cNvPr>
          <p:cNvSpPr txBox="1"/>
          <p:nvPr/>
        </p:nvSpPr>
        <p:spPr>
          <a:xfrm>
            <a:off x="5919680" y="3429000"/>
            <a:ext cx="4571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Сумма платежей по дням и платежным системам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				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C7C74-BEFD-474B-BF14-080FDA913655}"/>
              </a:ext>
            </a:extLst>
          </p:cNvPr>
          <p:cNvSpPr txBox="1"/>
          <p:nvPr/>
        </p:nvSpPr>
        <p:spPr>
          <a:xfrm>
            <a:off x="5834082" y="600991"/>
            <a:ext cx="45718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 Динамика количества транзакций по дням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500" dirty="0"/>
              <a:t>				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A03D398-16B0-4958-A36B-6CD933839C25}"/>
              </a:ext>
            </a:extLst>
          </p:cNvPr>
          <p:cNvSpPr/>
          <p:nvPr/>
        </p:nvSpPr>
        <p:spPr>
          <a:xfrm>
            <a:off x="713718" y="4940431"/>
            <a:ext cx="1531148" cy="253916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Адрес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BE6A5FF7-414C-4616-B501-833B8B8FD3C1}"/>
              </a:ext>
            </a:extLst>
          </p:cNvPr>
          <p:cNvSpPr/>
          <p:nvPr/>
        </p:nvSpPr>
        <p:spPr>
          <a:xfrm>
            <a:off x="713718" y="5259163"/>
            <a:ext cx="1531149" cy="253916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Валюта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CB53C20-D294-43E7-8A00-3C970FD82485}"/>
              </a:ext>
            </a:extLst>
          </p:cNvPr>
          <p:cNvSpPr/>
          <p:nvPr/>
        </p:nvSpPr>
        <p:spPr>
          <a:xfrm>
            <a:off x="713718" y="5577895"/>
            <a:ext cx="1531149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Мин. сумма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925A50CA-6E3D-4B29-A799-EC08E297E1E9}"/>
              </a:ext>
            </a:extLst>
          </p:cNvPr>
          <p:cNvSpPr/>
          <p:nvPr/>
        </p:nvSpPr>
        <p:spPr>
          <a:xfrm>
            <a:off x="713718" y="5896627"/>
            <a:ext cx="1531148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Мах.  сумма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66AF40A-6BEC-49EC-B52B-3C17A301E442}"/>
              </a:ext>
            </a:extLst>
          </p:cNvPr>
          <p:cNvSpPr/>
          <p:nvPr/>
        </p:nvSpPr>
        <p:spPr>
          <a:xfrm>
            <a:off x="2703883" y="4940431"/>
            <a:ext cx="2504603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Симферопольский б-р, 22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8F79696B-0DE4-4F89-ACED-A1B3BEB4890F}"/>
              </a:ext>
            </a:extLst>
          </p:cNvPr>
          <p:cNvSpPr/>
          <p:nvPr/>
        </p:nvSpPr>
        <p:spPr>
          <a:xfrm>
            <a:off x="2703882" y="5259163"/>
            <a:ext cx="2504603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Рубль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64332B12-FD8B-480C-9CB1-80984D72E178}"/>
              </a:ext>
            </a:extLst>
          </p:cNvPr>
          <p:cNvSpPr/>
          <p:nvPr/>
        </p:nvSpPr>
        <p:spPr>
          <a:xfrm>
            <a:off x="2703881" y="5577895"/>
            <a:ext cx="2504603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79E5208B-022C-41B0-BA6F-C459792D612A}"/>
              </a:ext>
            </a:extLst>
          </p:cNvPr>
          <p:cNvSpPr/>
          <p:nvPr/>
        </p:nvSpPr>
        <p:spPr>
          <a:xfrm>
            <a:off x="2703880" y="5896627"/>
            <a:ext cx="2504603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accent1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10000</a:t>
            </a:r>
          </a:p>
        </p:txBody>
      </p:sp>
      <p:sp>
        <p:nvSpPr>
          <p:cNvPr id="21" name="Управляющая кнопка: &quot;В конец&quot; 2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7C60A9F-887C-4017-A9AE-0132ECC78DD4}"/>
              </a:ext>
            </a:extLst>
          </p:cNvPr>
          <p:cNvSpPr/>
          <p:nvPr/>
        </p:nvSpPr>
        <p:spPr>
          <a:xfrm rot="5400000">
            <a:off x="5269656" y="4967779"/>
            <a:ext cx="253918" cy="199224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&quot;В конец&quot; 3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E13B061F-4C15-4BEF-AA0F-AD08E0C5F240}"/>
              </a:ext>
            </a:extLst>
          </p:cNvPr>
          <p:cNvSpPr/>
          <p:nvPr/>
        </p:nvSpPr>
        <p:spPr>
          <a:xfrm rot="5400000">
            <a:off x="5269656" y="5282748"/>
            <a:ext cx="253918" cy="199224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&quot;В конец&quot; 3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8752D517-032B-49C9-B12F-BFF449573219}"/>
              </a:ext>
            </a:extLst>
          </p:cNvPr>
          <p:cNvSpPr/>
          <p:nvPr/>
        </p:nvSpPr>
        <p:spPr>
          <a:xfrm rot="5400000">
            <a:off x="5269656" y="5605242"/>
            <a:ext cx="253918" cy="199224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Управляющая кнопка: &quot;В конец&quot; 3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2D29E4B-1E1E-48EB-B083-053E67B70B0A}"/>
              </a:ext>
            </a:extLst>
          </p:cNvPr>
          <p:cNvSpPr/>
          <p:nvPr/>
        </p:nvSpPr>
        <p:spPr>
          <a:xfrm rot="5400000">
            <a:off x="5269656" y="5932234"/>
            <a:ext cx="253918" cy="199224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C3AF02DC-FDAA-42BB-8A54-EA5891E254DA}"/>
              </a:ext>
            </a:extLst>
          </p:cNvPr>
          <p:cNvCxnSpPr>
            <a:cxnSpLocks/>
          </p:cNvCxnSpPr>
          <p:nvPr/>
        </p:nvCxnSpPr>
        <p:spPr>
          <a:xfrm>
            <a:off x="6909031" y="6090778"/>
            <a:ext cx="38784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Семиугольник 39">
            <a:extLst>
              <a:ext uri="{FF2B5EF4-FFF2-40B4-BE49-F238E27FC236}">
                <a16:creationId xmlns:a16="http://schemas.microsoft.com/office/drawing/2014/main" id="{34A148A3-EF98-4E52-8E98-4CC6C286C721}"/>
              </a:ext>
            </a:extLst>
          </p:cNvPr>
          <p:cNvSpPr/>
          <p:nvPr/>
        </p:nvSpPr>
        <p:spPr>
          <a:xfrm>
            <a:off x="7158122" y="3730910"/>
            <a:ext cx="106703" cy="98234"/>
          </a:xfrm>
          <a:prstGeom prst="heptagon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Семиугольник 40">
            <a:extLst>
              <a:ext uri="{FF2B5EF4-FFF2-40B4-BE49-F238E27FC236}">
                <a16:creationId xmlns:a16="http://schemas.microsoft.com/office/drawing/2014/main" id="{6475A988-63E5-483C-AC41-48721FD1B693}"/>
              </a:ext>
            </a:extLst>
          </p:cNvPr>
          <p:cNvSpPr/>
          <p:nvPr/>
        </p:nvSpPr>
        <p:spPr>
          <a:xfrm>
            <a:off x="8448350" y="3730910"/>
            <a:ext cx="106703" cy="98234"/>
          </a:xfrm>
          <a:prstGeom prst="heptagon">
            <a:avLst/>
          </a:prstGeom>
          <a:solidFill>
            <a:srgbClr val="FF99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D5B5C9-7CD1-4655-ABEC-8F03F7868048}"/>
              </a:ext>
            </a:extLst>
          </p:cNvPr>
          <p:cNvSpPr txBox="1"/>
          <p:nvPr/>
        </p:nvSpPr>
        <p:spPr>
          <a:xfrm>
            <a:off x="7241708" y="3653069"/>
            <a:ext cx="10391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</a:t>
            </a:r>
            <a:r>
              <a:rPr lang="en-US" sz="1050" b="1" dirty="0"/>
              <a:t>MasterCard</a:t>
            </a:r>
            <a:endParaRPr lang="ru-RU" sz="1050" b="1" dirty="0"/>
          </a:p>
        </p:txBody>
      </p:sp>
      <p:sp>
        <p:nvSpPr>
          <p:cNvPr id="43" name="Семиугольник 42">
            <a:extLst>
              <a:ext uri="{FF2B5EF4-FFF2-40B4-BE49-F238E27FC236}">
                <a16:creationId xmlns:a16="http://schemas.microsoft.com/office/drawing/2014/main" id="{B3A05CCC-0D95-4A8F-9497-3AB88549BAF5}"/>
              </a:ext>
            </a:extLst>
          </p:cNvPr>
          <p:cNvSpPr/>
          <p:nvPr/>
        </p:nvSpPr>
        <p:spPr>
          <a:xfrm>
            <a:off x="9688468" y="3730910"/>
            <a:ext cx="106703" cy="98234"/>
          </a:xfrm>
          <a:prstGeom prst="heptagon">
            <a:avLst/>
          </a:prstGeom>
          <a:solidFill>
            <a:srgbClr val="FF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72E915-2DEA-4346-AB41-72B419BA147C}"/>
              </a:ext>
            </a:extLst>
          </p:cNvPr>
          <p:cNvSpPr txBox="1"/>
          <p:nvPr/>
        </p:nvSpPr>
        <p:spPr>
          <a:xfrm>
            <a:off x="9795171" y="3653069"/>
            <a:ext cx="733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</a:t>
            </a:r>
            <a:r>
              <a:rPr lang="en-US" sz="1050" b="1" dirty="0"/>
              <a:t>Visa</a:t>
            </a:r>
            <a:endParaRPr lang="ru-RU" sz="105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C3EFE-391F-43D0-B8D9-7435AC39B5BF}"/>
              </a:ext>
            </a:extLst>
          </p:cNvPr>
          <p:cNvSpPr txBox="1"/>
          <p:nvPr/>
        </p:nvSpPr>
        <p:spPr>
          <a:xfrm>
            <a:off x="8542431" y="3653069"/>
            <a:ext cx="733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dirty="0"/>
              <a:t>- МИР</a:t>
            </a: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E6D63721-3CA0-4C3F-A441-DDFA21B2572B}"/>
              </a:ext>
            </a:extLst>
          </p:cNvPr>
          <p:cNvSpPr txBox="1">
            <a:spLocks/>
          </p:cNvSpPr>
          <p:nvPr/>
        </p:nvSpPr>
        <p:spPr>
          <a:xfrm>
            <a:off x="7158122" y="6071283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noProof="1">
                <a:latin typeface="+mn-lt"/>
              </a:rPr>
              <a:t>1 сент.         2 сент.     3 сент.       4 сент.      5 сент.       6 сент.      7сент.</a:t>
            </a:r>
          </a:p>
        </p:txBody>
      </p:sp>
    </p:spTree>
    <p:extLst>
      <p:ext uri="{BB962C8B-B14F-4D97-AF65-F5344CB8AC3E}">
        <p14:creationId xmlns:p14="http://schemas.microsoft.com/office/powerpoint/2010/main" val="2844581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19</a:t>
            </a:fld>
            <a:endParaRPr lang="ru-RU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5809099-5054-4735-95CC-8B639537906F}"/>
              </a:ext>
            </a:extLst>
          </p:cNvPr>
          <p:cNvSpPr txBox="1">
            <a:spLocks/>
          </p:cNvSpPr>
          <p:nvPr/>
        </p:nvSpPr>
        <p:spPr>
          <a:xfrm>
            <a:off x="1478756" y="29143"/>
            <a:ext cx="92847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ru-RU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исправление</a:t>
            </a:r>
            <a:r>
              <a:rPr lang="ru-RU" sz="2600" dirty="0"/>
              <a:t> </a:t>
            </a:r>
            <a:r>
              <a:rPr lang="ru-RU" sz="2000" dirty="0"/>
              <a:t>и оптимизация отчета-калькулятора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02CD00-7C99-4BE1-9971-4A528E115E4A}"/>
              </a:ext>
            </a:extLst>
          </p:cNvPr>
          <p:cNvSpPr/>
          <p:nvPr/>
        </p:nvSpPr>
        <p:spPr>
          <a:xfrm>
            <a:off x="1348586" y="5883315"/>
            <a:ext cx="1211281" cy="253916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Порог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B115F4B-3044-41F7-B039-B8A9D4EDB52F}"/>
              </a:ext>
            </a:extLst>
          </p:cNvPr>
          <p:cNvSpPr/>
          <p:nvPr/>
        </p:nvSpPr>
        <p:spPr>
          <a:xfrm>
            <a:off x="1349094" y="5242103"/>
            <a:ext cx="4445530" cy="253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ln w="0"/>
                <a:solidFill>
                  <a:schemeClr val="accent1">
                    <a:lumMod val="25000"/>
                  </a:schemeClr>
                </a:solidFill>
              </a:rPr>
              <a:t>Скидка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AB42D16-ED20-48C3-B593-AFCA663B30F5}"/>
              </a:ext>
            </a:extLst>
          </p:cNvPr>
          <p:cNvSpPr/>
          <p:nvPr/>
        </p:nvSpPr>
        <p:spPr>
          <a:xfrm>
            <a:off x="2915175" y="5878432"/>
            <a:ext cx="1211281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accent1">
                    <a:lumMod val="25000"/>
                  </a:schemeClr>
                </a:solidFill>
              </a:rPr>
              <a:t>10000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07A0E-1B87-4A86-B52B-CE60C6F19D23}"/>
              </a:ext>
            </a:extLst>
          </p:cNvPr>
          <p:cNvSpPr txBox="1"/>
          <p:nvPr/>
        </p:nvSpPr>
        <p:spPr>
          <a:xfrm>
            <a:off x="3919767" y="965450"/>
            <a:ext cx="37917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latin typeface="Franklin Gothic Medium" panose="020B0603020102020204" pitchFamily="34" charset="0"/>
              </a:rPr>
              <a:t>Средний чек в динамике с 5 по 7 сентября</a:t>
            </a:r>
          </a:p>
          <a:p>
            <a:pPr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/>
              <a:t>сумма		</a:t>
            </a:r>
            <a:endParaRPr lang="ru-RU" sz="1600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A9E88FE-6AD5-478A-967C-01274788329F}"/>
              </a:ext>
            </a:extLst>
          </p:cNvPr>
          <p:cNvSpPr/>
          <p:nvPr/>
        </p:nvSpPr>
        <p:spPr>
          <a:xfrm>
            <a:off x="1349094" y="5554134"/>
            <a:ext cx="1211281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р. 0,06р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BAAE7D5-794C-42AB-A178-9BAA74DF340A}"/>
              </a:ext>
            </a:extLst>
          </p:cNvPr>
          <p:cNvSpPr/>
          <p:nvPr/>
        </p:nvSpPr>
        <p:spPr>
          <a:xfrm>
            <a:off x="6096000" y="5554134"/>
            <a:ext cx="1321942" cy="253916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accent1">
                    <a:lumMod val="25000"/>
                  </a:schemeClr>
                </a:solidFill>
              </a:rPr>
              <a:t>Экономия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1BCF2F4-6CA0-453C-9585-89FC403AD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884622"/>
              </p:ext>
            </p:extLst>
          </p:nvPr>
        </p:nvGraphicFramePr>
        <p:xfrm>
          <a:off x="6096000" y="1803179"/>
          <a:ext cx="4205591" cy="3172126"/>
        </p:xfrm>
        <a:graphic>
          <a:graphicData uri="http://schemas.openxmlformats.org/drawingml/2006/table">
            <a:tbl>
              <a:tblPr/>
              <a:tblGrid>
                <a:gridCol w="1336117">
                  <a:extLst>
                    <a:ext uri="{9D8B030D-6E8A-4147-A177-3AD203B41FA5}">
                      <a16:colId xmlns:a16="http://schemas.microsoft.com/office/drawing/2014/main" val="2319993188"/>
                    </a:ext>
                  </a:extLst>
                </a:gridCol>
                <a:gridCol w="945041">
                  <a:extLst>
                    <a:ext uri="{9D8B030D-6E8A-4147-A177-3AD203B41FA5}">
                      <a16:colId xmlns:a16="http://schemas.microsoft.com/office/drawing/2014/main" val="3889932542"/>
                    </a:ext>
                  </a:extLst>
                </a:gridCol>
                <a:gridCol w="985685">
                  <a:extLst>
                    <a:ext uri="{9D8B030D-6E8A-4147-A177-3AD203B41FA5}">
                      <a16:colId xmlns:a16="http://schemas.microsoft.com/office/drawing/2014/main" val="325299242"/>
                    </a:ext>
                  </a:extLst>
                </a:gridCol>
                <a:gridCol w="938748">
                  <a:extLst>
                    <a:ext uri="{9D8B030D-6E8A-4147-A177-3AD203B41FA5}">
                      <a16:colId xmlns:a16="http://schemas.microsoft.com/office/drawing/2014/main" val="2073129403"/>
                    </a:ext>
                  </a:extLst>
                </a:gridCol>
              </a:tblGrid>
              <a:tr h="44498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Кол-во операций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269816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1 542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3 816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2 088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50495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5 825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17 094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14 471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21803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R_20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2 634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7 495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6 179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758243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AM_01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227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701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533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61380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AM_02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253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183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0430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EU_01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142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429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312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16166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EU_02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52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139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15557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3585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110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92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943593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KZ_20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48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626742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56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158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142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3382"/>
                  </a:ext>
                </a:extLst>
              </a:tr>
              <a:tr h="226877">
                <a:tc>
                  <a:txBody>
                    <a:bodyPr/>
                    <a:lstStyle/>
                    <a:p>
                      <a:pPr rtl="0" fontAlgn="ctr"/>
                      <a:r>
                        <a:rPr lang="ru-RU" sz="1200" b="1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Итого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10622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30269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24159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03247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1EF8B9C-F9D3-408A-B2BC-1A75EBB60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032313"/>
              </p:ext>
            </p:extLst>
          </p:nvPr>
        </p:nvGraphicFramePr>
        <p:xfrm>
          <a:off x="1349094" y="1803179"/>
          <a:ext cx="4445530" cy="2960701"/>
        </p:xfrm>
        <a:graphic>
          <a:graphicData uri="http://schemas.openxmlformats.org/drawingml/2006/table">
            <a:tbl>
              <a:tblPr/>
              <a:tblGrid>
                <a:gridCol w="1583602">
                  <a:extLst>
                    <a:ext uri="{9D8B030D-6E8A-4147-A177-3AD203B41FA5}">
                      <a16:colId xmlns:a16="http://schemas.microsoft.com/office/drawing/2014/main" val="143134735"/>
                    </a:ext>
                  </a:extLst>
                </a:gridCol>
                <a:gridCol w="953976">
                  <a:extLst>
                    <a:ext uri="{9D8B030D-6E8A-4147-A177-3AD203B41FA5}">
                      <a16:colId xmlns:a16="http://schemas.microsoft.com/office/drawing/2014/main" val="1996139674"/>
                    </a:ext>
                  </a:extLst>
                </a:gridCol>
                <a:gridCol w="953976">
                  <a:extLst>
                    <a:ext uri="{9D8B030D-6E8A-4147-A177-3AD203B41FA5}">
                      <a16:colId xmlns:a16="http://schemas.microsoft.com/office/drawing/2014/main" val="1968538877"/>
                    </a:ext>
                  </a:extLst>
                </a:gridCol>
                <a:gridCol w="953976">
                  <a:extLst>
                    <a:ext uri="{9D8B030D-6E8A-4147-A177-3AD203B41FA5}">
                      <a16:colId xmlns:a16="http://schemas.microsoft.com/office/drawing/2014/main" val="618145303"/>
                    </a:ext>
                  </a:extLst>
                </a:gridCol>
              </a:tblGrid>
              <a:tr h="431768">
                <a:tc>
                  <a:txBody>
                    <a:bodyPr/>
                    <a:lstStyle/>
                    <a:p>
                      <a:pPr rtl="0" fontAlgn="b"/>
                      <a:r>
                        <a:rPr lang="ru-RU" sz="120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Стоимость операций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04845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р.0,30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р.0,50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р.0,58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940041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р.0,35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р.0,60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р.0,62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537007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R_20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р.0,45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р.0,65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р.0,69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710005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AM_01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р.1,20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р.1,35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р.1,40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610906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AM_02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р.1,25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р.1,55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р.1,44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7959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EU_01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р.1,40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р.1,80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р.1,85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75424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EU_02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р.1,45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р.1,90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р.1,90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683144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р.0,80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р.1,05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01670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KZ_02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р.0,82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р.1,10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р.1,08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30922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KZ_20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р.0,84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р.1,20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р.1,14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068096"/>
                  </a:ext>
                </a:extLst>
              </a:tr>
              <a:tr h="22990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A_01</a:t>
                      </a:r>
                    </a:p>
                  </a:txBody>
                  <a:tcPr marL="76200" marR="76200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р.2,30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р.3,00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ru-RU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р.3,11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54872"/>
                  </a:ext>
                </a:extLst>
              </a:tr>
            </a:tbl>
          </a:graphicData>
        </a:graphic>
      </p:graphicFrame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82411B8-F0DD-44A1-84D5-B65B0C10E8A8}"/>
              </a:ext>
            </a:extLst>
          </p:cNvPr>
          <p:cNvSpPr/>
          <p:nvPr/>
        </p:nvSpPr>
        <p:spPr>
          <a:xfrm>
            <a:off x="2915175" y="5554134"/>
            <a:ext cx="1211281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р. 0,08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D6D8344-49B6-4B18-A6A7-D99905D9AA01}"/>
              </a:ext>
            </a:extLst>
          </p:cNvPr>
          <p:cNvSpPr/>
          <p:nvPr/>
        </p:nvSpPr>
        <p:spPr>
          <a:xfrm>
            <a:off x="4583343" y="5555156"/>
            <a:ext cx="1211281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dirty="0">
                <a:solidFill>
                  <a:schemeClr val="accent1">
                    <a:lumMod val="25000"/>
                  </a:schemeClr>
                </a:solidFill>
              </a:rPr>
              <a:t>р. 0,02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740B6C9-8210-4E08-A15C-05CD3707F464}"/>
              </a:ext>
            </a:extLst>
          </p:cNvPr>
          <p:cNvSpPr/>
          <p:nvPr/>
        </p:nvSpPr>
        <p:spPr>
          <a:xfrm>
            <a:off x="7417942" y="5554134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р.37,32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F57A4E55-ABD1-41B5-B1FF-AC6C9D421CCE}"/>
              </a:ext>
            </a:extLst>
          </p:cNvPr>
          <p:cNvSpPr/>
          <p:nvPr/>
        </p:nvSpPr>
        <p:spPr>
          <a:xfrm>
            <a:off x="8378890" y="5554134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р.1621,52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11320180-7716-43F5-9610-FECC23718BE4}"/>
              </a:ext>
            </a:extLst>
          </p:cNvPr>
          <p:cNvSpPr/>
          <p:nvPr/>
        </p:nvSpPr>
        <p:spPr>
          <a:xfrm>
            <a:off x="9339838" y="5554134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р.283,18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F7E5618-9A48-4566-8F54-4DABDE56B0CB}"/>
              </a:ext>
            </a:extLst>
          </p:cNvPr>
          <p:cNvSpPr/>
          <p:nvPr/>
        </p:nvSpPr>
        <p:spPr>
          <a:xfrm>
            <a:off x="10300786" y="5300218"/>
            <a:ext cx="960948" cy="253916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Итог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640966D-E67F-4224-92AA-294F16615CB2}"/>
              </a:ext>
            </a:extLst>
          </p:cNvPr>
          <p:cNvSpPr/>
          <p:nvPr/>
        </p:nvSpPr>
        <p:spPr>
          <a:xfrm>
            <a:off x="10300786" y="5549862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р.1942,02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4354FDF-D209-4268-9426-F695A8A8772A}"/>
              </a:ext>
            </a:extLst>
          </p:cNvPr>
          <p:cNvSpPr/>
          <p:nvPr/>
        </p:nvSpPr>
        <p:spPr>
          <a:xfrm>
            <a:off x="10300786" y="2476573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Затраты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811139C-E339-42EA-920A-1301A3CD14DC}"/>
              </a:ext>
            </a:extLst>
          </p:cNvPr>
          <p:cNvSpPr/>
          <p:nvPr/>
        </p:nvSpPr>
        <p:spPr>
          <a:xfrm>
            <a:off x="10300786" y="2730489"/>
            <a:ext cx="960948" cy="25391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accent1">
                    <a:lumMod val="25000"/>
                  </a:schemeClr>
                </a:solidFill>
              </a:rPr>
              <a:t>р.39496</a:t>
            </a:r>
          </a:p>
        </p:txBody>
      </p:sp>
    </p:spTree>
    <p:extLst>
      <p:ext uri="{BB962C8B-B14F-4D97-AF65-F5344CB8AC3E}">
        <p14:creationId xmlns:p14="http://schemas.microsoft.com/office/powerpoint/2010/main" val="87261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ru-RU" dirty="0"/>
              <a:t>Спасибо за внимание</a:t>
            </a:r>
          </a:p>
        </p:txBody>
      </p:sp>
      <p:sp>
        <p:nvSpPr>
          <p:cNvPr id="19" name="Объект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919502"/>
          </a:xfrm>
        </p:spPr>
        <p:txBody>
          <a:bodyPr rtlCol="0"/>
          <a:lstStyle/>
          <a:p>
            <a:pPr rtl="0"/>
            <a:r>
              <a:rPr lang="ru-RU" sz="1800" dirty="0">
                <a:solidFill>
                  <a:schemeClr val="accent1">
                    <a:lumMod val="25000"/>
                  </a:schemeClr>
                </a:solidFill>
              </a:rPr>
              <a:t>Работа серверов </a:t>
            </a:r>
          </a:p>
          <a:p>
            <a:pPr rtl="0"/>
            <a:r>
              <a:rPr lang="ru-RU" sz="1800" dirty="0">
                <a:solidFill>
                  <a:schemeClr val="accent1">
                    <a:lumMod val="25000"/>
                  </a:schemeClr>
                </a:solidFill>
              </a:rPr>
              <a:t>отрегулирована</a:t>
            </a:r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3400" y="4822988"/>
            <a:ext cx="3139479" cy="994961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ru-RU" dirty="0">
                <a:solidFill>
                  <a:schemeClr val="accent1">
                    <a:lumMod val="25000"/>
                  </a:schemeClr>
                </a:solidFill>
              </a:rPr>
              <a:t>Программа </a:t>
            </a:r>
          </a:p>
          <a:p>
            <a:pPr rtl="0"/>
            <a:r>
              <a:rPr lang="ru-RU" dirty="0">
                <a:solidFill>
                  <a:schemeClr val="accent1">
                    <a:lumMod val="25000"/>
                  </a:schemeClr>
                </a:solidFill>
              </a:rPr>
              <a:t>Лояльности</a:t>
            </a:r>
          </a:p>
          <a:p>
            <a:pPr rtl="0"/>
            <a:r>
              <a:rPr lang="ru-RU" dirty="0">
                <a:solidFill>
                  <a:schemeClr val="accent1">
                    <a:lumMod val="25000"/>
                  </a:schemeClr>
                </a:solidFill>
              </a:rPr>
              <a:t>откорректирована</a:t>
            </a:r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641549" y="4822988"/>
            <a:ext cx="3124093" cy="848910"/>
          </a:xfrm>
        </p:spPr>
        <p:txBody>
          <a:bodyPr rtlCol="0"/>
          <a:lstStyle/>
          <a:p>
            <a:r>
              <a:rPr lang="ru-RU" sz="1800" noProof="1">
                <a:solidFill>
                  <a:schemeClr val="accent1">
                    <a:lumMod val="25000"/>
                  </a:schemeClr>
                </a:solidFill>
              </a:rPr>
              <a:t>Дашборт</a:t>
            </a:r>
            <a:r>
              <a:rPr lang="ru-RU" sz="1800" dirty="0">
                <a:solidFill>
                  <a:schemeClr val="accent1">
                    <a:lumMod val="25000"/>
                  </a:schemeClr>
                </a:solidFill>
              </a:rPr>
              <a:t> создан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F296843C-0ED0-4314-A6F0-DD60C828D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80192" y="5856287"/>
            <a:ext cx="3124093" cy="462927"/>
          </a:xfrm>
        </p:spPr>
        <p:txBody>
          <a:bodyPr rtlCol="0">
            <a:normAutofit/>
          </a:bodyPr>
          <a:lstStyle/>
          <a:p>
            <a:pPr rtl="0"/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Аналитика</a:t>
            </a:r>
          </a:p>
        </p:txBody>
      </p:sp>
      <p:sp>
        <p:nvSpPr>
          <p:cNvPr id="23" name="Объект 22">
            <a:extLst>
              <a:ext uri="{FF2B5EF4-FFF2-40B4-BE49-F238E27FC236}">
                <a16:creationId xmlns:a16="http://schemas.microsoft.com/office/drawing/2014/main" id="{649BF20C-562E-400E-BEA6-1D5F81F2FE4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856286"/>
            <a:ext cx="3139479" cy="462927"/>
          </a:xfrm>
        </p:spPr>
        <p:txBody>
          <a:bodyPr rtlCol="0">
            <a:normAutofit/>
          </a:bodyPr>
          <a:lstStyle/>
          <a:p>
            <a:pPr rtl="0"/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помощник</a:t>
            </a:r>
          </a:p>
        </p:txBody>
      </p:sp>
      <p:sp>
        <p:nvSpPr>
          <p:cNvPr id="24" name="Объект 23">
            <a:extLst>
              <a:ext uri="{FF2B5EF4-FFF2-40B4-BE49-F238E27FC236}">
                <a16:creationId xmlns:a16="http://schemas.microsoft.com/office/drawing/2014/main" id="{5AA25980-D334-4FC0-9091-936E53B8D32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887715" y="5861984"/>
            <a:ext cx="3124093" cy="462927"/>
          </a:xfrm>
        </p:spPr>
        <p:txBody>
          <a:bodyPr rtlCol="0">
            <a:normAutofit/>
          </a:bodyPr>
          <a:lstStyle/>
          <a:p>
            <a:pPr rtl="0"/>
            <a:r>
              <a:rPr lang="ru-RU" sz="1600" dirty="0">
                <a:solidFill>
                  <a:schemeClr val="accent1">
                    <a:lumMod val="50000"/>
                  </a:schemeClr>
                </a:solidFill>
              </a:rPr>
              <a:t>бизнесу.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ru-RU" dirty="0"/>
              <a:t>Период 1-7 сентября 2022  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ru-RU" dirty="0"/>
              <a:t>Аналитический отчет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20</a:t>
            </a:fld>
            <a:endParaRPr lang="ru-RU"/>
          </a:p>
        </p:txBody>
      </p:sp>
      <p:sp>
        <p:nvSpPr>
          <p:cNvPr id="27" name="Текст 28">
            <a:extLst>
              <a:ext uri="{FF2B5EF4-FFF2-40B4-BE49-F238E27FC236}">
                <a16:creationId xmlns:a16="http://schemas.microsoft.com/office/drawing/2014/main" id="{B790273F-7D43-4F09-98DD-3392B8A43931}"/>
              </a:ext>
            </a:extLst>
          </p:cNvPr>
          <p:cNvSpPr txBox="1">
            <a:spLocks/>
          </p:cNvSpPr>
          <p:nvPr/>
        </p:nvSpPr>
        <p:spPr>
          <a:xfrm>
            <a:off x="1874435" y="3151424"/>
            <a:ext cx="1706965" cy="104857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400" dirty="0"/>
              <a:t>1</a:t>
            </a:r>
          </a:p>
        </p:txBody>
      </p:sp>
      <p:sp>
        <p:nvSpPr>
          <p:cNvPr id="28" name="Текст 28">
            <a:extLst>
              <a:ext uri="{FF2B5EF4-FFF2-40B4-BE49-F238E27FC236}">
                <a16:creationId xmlns:a16="http://schemas.microsoft.com/office/drawing/2014/main" id="{B4E6C3B9-F586-4415-91D8-91707635EA49}"/>
              </a:ext>
            </a:extLst>
          </p:cNvPr>
          <p:cNvSpPr txBox="1">
            <a:spLocks/>
          </p:cNvSpPr>
          <p:nvPr/>
        </p:nvSpPr>
        <p:spPr>
          <a:xfrm>
            <a:off x="5242517" y="3151423"/>
            <a:ext cx="1706965" cy="104857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400" dirty="0"/>
              <a:t>2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FD7B2108-FAC0-4ADF-AB8C-66FDD0603001}"/>
              </a:ext>
            </a:extLst>
          </p:cNvPr>
          <p:cNvSpPr txBox="1">
            <a:spLocks/>
          </p:cNvSpPr>
          <p:nvPr/>
        </p:nvSpPr>
        <p:spPr>
          <a:xfrm>
            <a:off x="8610600" y="3151422"/>
            <a:ext cx="1706965" cy="104857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theme/theme1.xml><?xml version="1.0" encoding="utf-8"?>
<a:theme xmlns:a="http://schemas.openxmlformats.org/drawingml/2006/main" name="Одиночная линия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3_TF56180624_Win32" id="{67C9E7EB-4B67-47D2-AC94-A62F98E9F47B}" vid="{DA75A8E3-E007-44ED-9BA5-5388846DD69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светлая презентация</Template>
  <TotalTime>6558</TotalTime>
  <Words>2798</Words>
  <Application>Microsoft Office PowerPoint</Application>
  <PresentationFormat>Широкоэкранный</PresentationFormat>
  <Paragraphs>551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Franklin Gothic Medium</vt:lpstr>
      <vt:lpstr>Tenorite</vt:lpstr>
      <vt:lpstr>Одиночная линия</vt:lpstr>
      <vt:lpstr>Аналитический отчет  ретейловой сети  SkyCrossroads</vt:lpstr>
      <vt:lpstr>Содержание</vt:lpstr>
      <vt:lpstr>ОБЗОР работы торговых точек 1-4 сентября</vt:lpstr>
      <vt:lpstr>ОБЗОР нагрузки серверов 1-4 сентября</vt:lpstr>
      <vt:lpstr>ОБЗОР нагрузки серверов после перераспределения</vt:lpstr>
      <vt:lpstr>ОБЗОР работы кассового обслуживания 1-4 сентября</vt:lpstr>
      <vt:lpstr>Презентация PowerPoint</vt:lpstr>
      <vt:lpstr>Вывод и решения</vt:lpstr>
      <vt:lpstr>ОБЗОР работы торговых точек 1 сентября</vt:lpstr>
      <vt:lpstr>ОБЗОР работы серверов и платежных систем 1 сентября</vt:lpstr>
      <vt:lpstr>Вывод</vt:lpstr>
      <vt:lpstr>Презентация PowerPoint</vt:lpstr>
      <vt:lpstr>ОБЗОР нагрузки серверов 5-7 сентября</vt:lpstr>
      <vt:lpstr>Презентация PowerPoint</vt:lpstr>
      <vt:lpstr>Презентация PowerPoint</vt:lpstr>
      <vt:lpstr>Презентация PowerPoint</vt:lpstr>
      <vt:lpstr>Вывод</vt:lpstr>
      <vt:lpstr>дашборд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Аналитический отчет     работа торговых точек сентябрь 2022</dc:title>
  <dc:creator>Slava Gebel</dc:creator>
  <cp:lastModifiedBy>Slava Gebel</cp:lastModifiedBy>
  <cp:revision>20</cp:revision>
  <dcterms:created xsi:type="dcterms:W3CDTF">2025-09-29T16:03:38Z</dcterms:created>
  <dcterms:modified xsi:type="dcterms:W3CDTF">2026-07-23T18:33:27Z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